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Narratives</c:v>
                </c:pt>
              </c:strCache>
            </c:strRef>
          </c:tx>
          <c:spPr>
            <a:solidFill>
              <a:srgbClr val="12A0B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B1E3F"/>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Sheet1!$A$2:$A$12</c:f>
              <c:strCache>
                <c:ptCount val="11"/>
                <c:pt idx="0">
                  <c:v>Debt collection</c:v>
                </c:pt>
                <c:pt idx="1">
                  <c:v>Checking/savings</c:v>
                </c:pt>
                <c:pt idx="2">
                  <c:v>Credit card</c:v>
                </c:pt>
                <c:pt idx="3">
                  <c:v>Money transfer</c:v>
                </c:pt>
                <c:pt idx="4">
                  <c:v>Mortgage</c:v>
                </c:pt>
                <c:pt idx="5">
                  <c:v>Vehicle loan</c:v>
                </c:pt>
                <c:pt idx="6">
                  <c:v>Credit reporting</c:v>
                </c:pt>
                <c:pt idx="7">
                  <c:v>Payday/personal</c:v>
                </c:pt>
                <c:pt idx="8">
                  <c:v>Student loan</c:v>
                </c:pt>
                <c:pt idx="9">
                  <c:v>Prepaid card</c:v>
                </c:pt>
                <c:pt idx="10">
                  <c:v>Debt/credit mgmt</c:v>
                </c:pt>
              </c:strCache>
            </c:strRef>
          </c:cat>
          <c:val>
            <c:numRef>
              <c:f>Sheet1!$B$2:$B$12</c:f>
              <c:numCache>
                <c:formatCode>General</c:formatCode>
                <c:ptCount val="11"/>
                <c:pt idx="0">
                  <c:v>2727</c:v>
                </c:pt>
                <c:pt idx="1">
                  <c:v>2025</c:v>
                </c:pt>
                <c:pt idx="2">
                  <c:v>1822</c:v>
                </c:pt>
                <c:pt idx="3">
                  <c:v>781</c:v>
                </c:pt>
                <c:pt idx="4">
                  <c:v>728</c:v>
                </c:pt>
                <c:pt idx="5">
                  <c:v>509</c:v>
                </c:pt>
                <c:pt idx="6">
                  <c:v>463</c:v>
                </c:pt>
                <c:pt idx="7">
                  <c:v>410</c:v>
                </c:pt>
                <c:pt idx="8">
                  <c:v>310</c:v>
                </c:pt>
                <c:pt idx="9">
                  <c:v>134</c:v>
                </c:pt>
                <c:pt idx="10">
                  <c:v>93</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0B1E3F"/>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txPr>
          <a:bodyPr rot="-60000000" spcFirstLastPara="0" vertOverflow="ellipsis" vert="horz" wrap="square" anchor="ctr" anchorCtr="1"/>
          <a:lstStyle/>
          <a:p>
            <a:pPr>
              <a:defRPr lang="en-US" sz="1100" b="0" i="0" u="none" strike="noStrike" kern="1200" baseline="0">
                <a:solidFill>
                  <a:srgbClr val="5F6B7A"/>
                </a:solidFill>
                <a:latin typeface="Calibri" panose="020F050202020403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77f1c3b-8ace-4f74-9166-237647ad798a}"/>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TF-IDF</c:v>
                </c:pt>
              </c:strCache>
            </c:strRef>
          </c:tx>
          <c:spPr>
            <a:solidFill>
              <a:srgbClr val="0B1E3F"/>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B1E3F"/>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Accuracy</c:v>
                </c:pt>
                <c:pt idx="1">
                  <c:v>Macro-F1</c:v>
                </c:pt>
                <c:pt idx="2">
                  <c:v>Weighted F1</c:v>
                </c:pt>
              </c:strCache>
            </c:strRef>
          </c:cat>
          <c:val>
            <c:numRef>
              <c:f>Sheet1!$B$2:$B$4</c:f>
              <c:numCache>
                <c:formatCode>General</c:formatCode>
                <c:ptCount val="3"/>
                <c:pt idx="0">
                  <c:v>0.7</c:v>
                </c:pt>
                <c:pt idx="1">
                  <c:v>0.37</c:v>
                </c:pt>
                <c:pt idx="2">
                  <c:v>0.65</c:v>
                </c:pt>
              </c:numCache>
            </c:numRef>
          </c:val>
        </c:ser>
        <c:ser>
          <c:idx val="1"/>
          <c:order val="1"/>
          <c:tx>
            <c:strRef>
              <c:f>Sheet1!$C$1</c:f>
              <c:strCache>
                <c:ptCount val="1"/>
                <c:pt idx="0">
                  <c:v>MiniLM</c:v>
                </c:pt>
              </c:strCache>
            </c:strRef>
          </c:tx>
          <c:spPr>
            <a:solidFill>
              <a:srgbClr val="12A0B5"/>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B1E3F"/>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Accuracy</c:v>
                </c:pt>
                <c:pt idx="1">
                  <c:v>Macro-F1</c:v>
                </c:pt>
                <c:pt idx="2">
                  <c:v>Weighted F1</c:v>
                </c:pt>
              </c:strCache>
            </c:strRef>
          </c:cat>
          <c:val>
            <c:numRef>
              <c:f>Sheet1!$C$2:$C$4</c:f>
              <c:numCache>
                <c:formatCode>General</c:formatCode>
                <c:ptCount val="3"/>
                <c:pt idx="0">
                  <c:v>0.69</c:v>
                </c:pt>
                <c:pt idx="1">
                  <c:v>0.38</c:v>
                </c:pt>
                <c:pt idx="2">
                  <c:v>0.66</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0B1E3F"/>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max val="1"/>
          <c:min val="0"/>
        </c:scaling>
        <c:delete val="0"/>
        <c:axPos val="l"/>
        <c:majorGridlines>
          <c:spPr>
            <a:ln w="6350" cap="flat" cmpd="sng" algn="ctr">
              <a:solidFill>
                <a:srgbClr val="D8DDE3"/>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5F6B7A"/>
                </a:solidFill>
                <a:latin typeface="Calibri" panose="020F050202020403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100" b="0" i="0" u="none" strike="noStrike" kern="1200" baseline="0">
              <a:solidFill>
                <a:schemeClr val="tx1"/>
              </a:solidFill>
              <a:latin typeface="Calibri" panose="020F0502020204030204"/>
              <a:ea typeface="+mn-ea"/>
              <a:cs typeface="Calibri" panose="020F0502020204030204"/>
            </a:defRPr>
          </a:pPr>
        </a:p>
      </c:txPr>
    </c:legend>
    <c:plotVisOnly val="1"/>
    <c:dispBlanksAs val="span"/>
    <c:showDLblsOverMax val="0"/>
    <c:extLst>
      <c:ext uri="{0b15fc19-7d7d-44ad-8c2d-2c3a37ce22c3}">
        <chartProps xmlns="https://web.wps.cn/et/2018/main" chartId="{7176aa52-ed4d-49d9-897c-35befb67821f}"/>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Financial complaints arrive as free text. FINROOT turns a complaint into a predicted category, a confidence score and an explanation, then decides whether a person should review it. We built it on 10,002 real CFPB complaint narratives.
VIVA: What does FINROOT do in one line? A: It classifies a complaint, explains the prediction with LIME, and flags low-confidence cases for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A complaint is free text, but an analyst needs a category, a sense of how sure the system is, the words that mattered, and a decision on whether to review. On the right is a real FINROOT output for this complaint: the predicted category, the confidence of 0.468, the word "deducted" as the main influence, and the review decision, which here is human review because confidence is under 0.60. Problem statement: how can NLP turn unstructured financial complaints into explainable category predictions and triage decisions, while flagging uncertain cases for a human?
Transition: Here is how the system is built.
VIVA: Why is this hard manually? A: Complaints are informal, long (about 246 words on average) and often mix several issues.
VIVA: Why does this example go to human review? A: Its confidence, 0.468, is below the 0.60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The pipeline has five working stages. Complaint text is cleaned, represented as TF-IDF or MiniLM embeddings, classified by Logistic Regression into ten categories with a confidence score, explained with LIME, and passed through a 0.60 review gate. Alongside, a rule-based extractor identifies amounts, dates, products and events, and we used it to build a 1,200-narrative annotation set. A resolution lookup exists as a prototype with two hand-written entries; it is not yet linked to the classifier categories, so we describe it as the next integration step. All of this runs in a notebook.
Transition: Now the data.
VIVA: Is the extractor an input to the classifier? A: No. It built the annotation set; the classifier uses the text.
VIVA: Does it retrieve resolutions? A: Only as a prototype lookup; linking it to classifier categories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We used the CFPB Consumer Complaint Database, July 2026 export: 10,002 complaint narratives across 11 financial product categories, averaging about 246 words. Preparation is deliberately light, with Unicode and whitespace normalisation and the original text kept. We excluded post-complaint fields such as company response, so the model sees only what exists at intake. The 10 category labels are provisional, and the 7,819 annotation spans on 1,200 narratives are AI-reviewed, not human gold. The train and test split is a stratified 80/20 split with seed 42. One qualification: 792 duplicate narratives were flagged, but the split was not duplicate-grouped, so scores may be slightly optimistic.
Transition: Now the modelling.
VIVA: Is this Indian data? A: No, it is U.S. CFPB data; we make no claim for Indian or UPI complaints.
VIVA: Are labels human-verified? A: No, they are provisional; scores measure agreement with them.
VIVA: Duplicates? A: 792 flagged by hash and kept; the split was not duplicate-grouped, so we note scores may be slightly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We compare two ways of representing a complaint, with everything else held constant. TF-IDF scores one- and two-word phrases: fast and transparent. MiniLM encodes the whole complaint as one dense vector from a pretrained sentence model, so similar meanings sit close together. Both feed the same Logistic Regression classifier on the same split, so any difference comes from the representation.
Transition: Results.
VIVA: Why Logistic Regression? A: A simple, standard baseline that isolates the effect of the representation.
VIVA: Why MiniLM? A: A small pretrained sentence encoder that runs in Colab; we did not fine-tune it, and it truncates very long narratives.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Both models reach about 0.70 accuracy, roughly ten points above the 0.597 you get by always guessing the largest class. Macro-F1, which weighs all ten categories equally, is 0.37 for TF-IDF and 0.38 for MiniLM, and weighted F1 is 0.65 and 0.66. The two approaches perform similarly overall; MiniLM raises recall on unauthorized transactions from 0.09 to 0.18. Strongest categories are the catch-all at 0.81 F1, identity theft at 0.59 and debt collection at 0.56.
Transition: Now how a prediction is explained.
VIVA: Is MiniLM better? A: Overall they are comparable; MiniLM helps unauthorized-transaction recall but not every class.
VIVA: Why is macro-F1 lower than accuracy? A: Rare categories have few examples, and accuracy is lifted by the largest class.
VIVA: How reliable are the scores? A: One stratified split, seed 42, labels provisional, duplicates not grouped, so treat them as a working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This is real LIME output for the MiniLM classifier on our example complaint. The model predicts OTHER_FINANCIAL_DISPUTE at 0.468. LIME shows that the word "deducted" has the largest influence, with a weight of about minus 0.35, pushing the prediction away from that category; the other words contribute little. For an analyst this is a quick way to see what the model reacted to. It does not prove the prediction is correct; LIME is a local approximation of one prediction.
Transition: Now what happens with this prediction.
VIVA: Does LIME prove the model is right? A: No. It shows which words influenced one prediction.
VIVA: Why eight words? A: LIME was configured to report the 8 most influential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Here is the review workflow. FINROOT predicts a category and a confidence, shows the explanation, and applies a 0.60 confidence gate. In our example the confidence is 0.468, below the gate, so the output is Human review required. The 0.60 threshold is a fixed cutoff we chose; the probabilities are not calibrated, so we use it as a triage signal, not as a probability of being right. Resolution guidance is a prototype lookup that is not yet linked to the classifier categories.
Transition: What did our evaluation teach us?
VIVA: Why 0.60? A: A fixed threshold for the prototype; tuning and calibration are future work.
VIVA: Is confidence the chance of being correct? A: No, it is not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Our most useful analytical finding comes from a stress test. We wrote one complaint in four styles: formal, informal, noisy and Hinglish. All four were assigned the same category, and the model's confidence ranged from 0.591 to 0.807. To read this correctly: the expected label, FAILED_TRANSFER, is not one of the ten trained categories, so zero of four correct was guaranteed. What it shows is behaviour: confidence rose to its highest, 0.807, on the Hinglish input, which the model was not built for. That is why we pair confidence with explanations and human review instead of trusting confidence alone. Separately, class-level analysis shows 79 percent of unauthorized-transaction complaints, 61 of 77, fall into the catch-all category, pointing to where review attention matters most.
Transition: To conclude.
VIVA: Is this a fairness evaluation? A: No, it is a four-case stress test plus per-class results; no per-product or per-state analysis.
VIVA: Why does the test matter? A: It shows confidence alone is not a reliable trust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FINROOT turns financial complaint text into a predicted category, a confidence score, a LIME explanation and a review decision. Our key contribution is a working, explainable classification-and-triage pipeline, compared across TF-IDF and MiniLM, about ten points above the baseline in accuracy. Our strongest finding is that confidence alone is not a trust signal, which is why explanation and human review are built in. Next: human-verify the labels, handle class imbalance and calibrate confidence, link resolution procedures to categories, and add UPI and Hinglish data. Thank you, questions?
VIVA: Main contribution? A: A working, auditable classification-and-explanation pipeline with an honest evaluation.
VIVA: First thing next? A: Human-verify labels, since every metric measures agreement with them.
VIVA: Deployed or tested with users? A: No; it is an academic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Shape 0"/>
          <p:cNvSpPr/>
          <p:nvPr/>
        </p:nvSpPr>
        <p:spPr>
          <a:xfrm>
            <a:off x="6126480" y="0"/>
            <a:ext cx="3017520" cy="5143500"/>
          </a:xfrm>
          <a:prstGeom prst="rect">
            <a:avLst/>
          </a:prstGeom>
          <a:solidFill>
            <a:srgbClr val="0B1E3F"/>
          </a:solidFill>
          <a:ln w="12700">
            <a:solidFill>
              <a:srgbClr val="0B1E3F"/>
            </a:solidFill>
            <a:prstDash val="solid"/>
          </a:ln>
        </p:spPr>
      </p:sp>
      <p:sp>
        <p:nvSpPr>
          <p:cNvPr id="4" name="Text 1"/>
          <p:cNvSpPr txBox="1"/>
          <p:nvPr/>
        </p:nvSpPr>
        <p:spPr>
          <a:xfrm>
            <a:off x="548640" y="548640"/>
            <a:ext cx="5486400" cy="274320"/>
          </a:xfrm>
          <a:prstGeom prst="rect">
            <a:avLst/>
          </a:prstGeom>
          <a:noFill/>
        </p:spPr>
        <p:txBody>
          <a:bodyPr wrap="square" lIns="0" tIns="0" rIns="0" bIns="0" rtlCol="0" anchor="t"/>
          <a:lstStyle/>
          <a:p>
            <a:pPr marL="0" indent="0">
              <a:buNone/>
            </a:pPr>
            <a:r>
              <a:rPr lang="en-US" sz="11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EXPLAINABLE NLP · FINANCIAL COMPLAINTS</a:t>
            </a:r>
            <a:endParaRPr lang="en-US" sz="1100" dirty="0"/>
          </a:p>
        </p:txBody>
      </p:sp>
      <p:sp>
        <p:nvSpPr>
          <p:cNvPr id="5" name="Text 2"/>
          <p:cNvSpPr txBox="1"/>
          <p:nvPr/>
        </p:nvSpPr>
        <p:spPr>
          <a:xfrm>
            <a:off x="548640" y="960120"/>
            <a:ext cx="5486400" cy="1097280"/>
          </a:xfrm>
          <a:prstGeom prst="rect">
            <a:avLst/>
          </a:prstGeom>
          <a:noFill/>
        </p:spPr>
        <p:txBody>
          <a:bodyPr wrap="square" lIns="0" tIns="0" rIns="0" bIns="0" rtlCol="0" anchor="t"/>
          <a:lstStyle/>
          <a:p>
            <a:pPr marL="0" indent="0">
              <a:buNone/>
            </a:pPr>
            <a:r>
              <a:rPr lang="en-US" sz="6600" b="1" dirty="0">
                <a:solidFill>
                  <a:srgbClr val="0B1E3F"/>
                </a:solidFill>
                <a:latin typeface="Cambria" panose="02040503050406030204" pitchFamily="34" charset="0"/>
                <a:ea typeface="Cambria" panose="02040503050406030204" pitchFamily="34" charset="-122"/>
                <a:cs typeface="Cambria" panose="02040503050406030204" pitchFamily="34" charset="-120"/>
              </a:rPr>
              <a:t>FINROOT</a:t>
            </a:r>
            <a:endParaRPr lang="en-US" sz="6600" dirty="0"/>
          </a:p>
        </p:txBody>
      </p:sp>
      <p:sp>
        <p:nvSpPr>
          <p:cNvPr id="6" name="Text 3"/>
          <p:cNvSpPr txBox="1"/>
          <p:nvPr/>
        </p:nvSpPr>
        <p:spPr>
          <a:xfrm>
            <a:off x="548640" y="2103120"/>
            <a:ext cx="5303520" cy="1097280"/>
          </a:xfrm>
          <a:prstGeom prst="rect">
            <a:avLst/>
          </a:prstGeom>
          <a:noFill/>
        </p:spPr>
        <p:txBody>
          <a:bodyPr wrap="square" lIns="0" tIns="0" rIns="0" bIns="0" rtlCol="0" anchor="t"/>
          <a:lstStyle/>
          <a:p>
            <a:pPr marL="0" indent="0">
              <a:buNone/>
            </a:pPr>
            <a:r>
              <a:rPr lang="en-US" sz="2000" i="1" dirty="0">
                <a:solidFill>
                  <a:srgbClr val="5F6B7A"/>
                </a:solidFill>
                <a:latin typeface="Cambria" panose="02040503050406030204" pitchFamily="34" charset="0"/>
                <a:ea typeface="Cambria" panose="02040503050406030204" pitchFamily="34" charset="-122"/>
                <a:cs typeface="Cambria" panose="02040503050406030204" pitchFamily="34" charset="-120"/>
              </a:rPr>
              <a:t>An Explainable NLP System for Financial Complaint Classification and Triage</a:t>
            </a:r>
            <a:endParaRPr lang="en-US" sz="2000" dirty="0"/>
          </a:p>
        </p:txBody>
      </p:sp>
      <p:sp>
        <p:nvSpPr>
          <p:cNvPr id="7" name="Text 4"/>
          <p:cNvSpPr txBox="1"/>
          <p:nvPr/>
        </p:nvSpPr>
        <p:spPr>
          <a:xfrm>
            <a:off x="548640" y="3840480"/>
            <a:ext cx="5394960" cy="822960"/>
          </a:xfrm>
          <a:prstGeom prst="rect">
            <a:avLst/>
          </a:prstGeom>
          <a:noFill/>
        </p:spPr>
        <p:txBody>
          <a:bodyPr wrap="square" lIns="0" tIns="0" rIns="0" bIns="0" rtlCol="0" anchor="t"/>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Manbhavna Khanna · Tulip Salaria · Swasti Sinha</a:t>
            </a:r>
            <a:endParaRPr lang="en-US" sz="1200" dirty="0"/>
          </a:p>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BBA (AI) Section B · Symbiosis Artificial Intelligence Institute, Pune</a:t>
            </a:r>
            <a:endParaRPr lang="en-US" sz="1200" dirty="0"/>
          </a:p>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Faculty: Dr. Nabanita Choudhury</a:t>
            </a:r>
            <a:endParaRPr lang="en-US" sz="1200" dirty="0"/>
          </a:p>
        </p:txBody>
      </p:sp>
      <p:sp>
        <p:nvSpPr>
          <p:cNvPr id="8" name="Text 5"/>
          <p:cNvSpPr txBox="1"/>
          <p:nvPr/>
        </p:nvSpPr>
        <p:spPr>
          <a:xfrm>
            <a:off x="6400800" y="822960"/>
            <a:ext cx="2468880" cy="228600"/>
          </a:xfrm>
          <a:prstGeom prst="rect">
            <a:avLst/>
          </a:prstGeom>
          <a:noFill/>
        </p:spPr>
        <p:txBody>
          <a:bodyPr wrap="square" lIns="0" tIns="0" rIns="0" bIns="0" rtlCol="0" anchor="t"/>
          <a:lstStyle/>
          <a:p>
            <a:pPr marL="0" indent="0">
              <a:buNone/>
            </a:pPr>
            <a:r>
              <a:rPr lang="en-US" sz="1000" b="1" dirty="0">
                <a:solidFill>
                  <a:srgbClr val="7FD3E0"/>
                </a:solidFill>
                <a:latin typeface="Courier New" panose="02070309020205020404" pitchFamily="34" charset="0"/>
                <a:ea typeface="Courier New" panose="02070309020205020404" pitchFamily="34" charset="-122"/>
                <a:cs typeface="Courier New" panose="02070309020205020404" pitchFamily="34" charset="-120"/>
              </a:rPr>
              <a:t>FREE TEXT</a:t>
            </a:r>
            <a:endParaRPr lang="en-US" sz="1000" dirty="0"/>
          </a:p>
        </p:txBody>
      </p:sp>
      <p:sp>
        <p:nvSpPr>
          <p:cNvPr id="9" name="Text 6"/>
          <p:cNvSpPr txBox="1"/>
          <p:nvPr/>
        </p:nvSpPr>
        <p:spPr>
          <a:xfrm>
            <a:off x="6400800" y="1097280"/>
            <a:ext cx="2468880" cy="822960"/>
          </a:xfrm>
          <a:prstGeom prst="rect">
            <a:avLst/>
          </a:prstGeom>
          <a:noFill/>
        </p:spPr>
        <p:txBody>
          <a:bodyPr wrap="square" lIns="0" tIns="0" rIns="0" bIns="0" rtlCol="0" anchor="t"/>
          <a:lstStyle/>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"Money was deducted but receiver did not get it"</a:t>
            </a:r>
            <a:endParaRPr lang="en-US" sz="1500" dirty="0"/>
          </a:p>
        </p:txBody>
      </p:sp>
      <p:sp>
        <p:nvSpPr>
          <p:cNvPr id="10" name="Text 7"/>
          <p:cNvSpPr txBox="1"/>
          <p:nvPr/>
        </p:nvSpPr>
        <p:spPr>
          <a:xfrm>
            <a:off x="6400800" y="2011680"/>
            <a:ext cx="2468880" cy="274320"/>
          </a:xfrm>
          <a:prstGeom prst="rect">
            <a:avLst/>
          </a:prstGeom>
          <a:noFill/>
        </p:spPr>
        <p:txBody>
          <a:bodyPr wrap="square" lIns="0" tIns="0" rIns="0" bIns="0" rtlCol="0" anchor="t"/>
          <a:lstStyle/>
          <a:p>
            <a:pPr marL="0" indent="0">
              <a:buNone/>
            </a:pPr>
            <a:r>
              <a:rPr lang="en-US" sz="1400"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1" name="Text 8"/>
          <p:cNvSpPr txBox="1"/>
          <p:nvPr/>
        </p:nvSpPr>
        <p:spPr>
          <a:xfrm>
            <a:off x="6400800" y="2377440"/>
            <a:ext cx="2468880" cy="228600"/>
          </a:xfrm>
          <a:prstGeom prst="rect">
            <a:avLst/>
          </a:prstGeom>
          <a:noFill/>
        </p:spPr>
        <p:txBody>
          <a:bodyPr wrap="square" lIns="0" tIns="0" rIns="0" bIns="0" rtlCol="0" anchor="t"/>
          <a:lstStyle/>
          <a:p>
            <a:pPr marL="0" indent="0">
              <a:buNone/>
            </a:pPr>
            <a:r>
              <a:rPr lang="en-US" sz="1000" b="1" dirty="0">
                <a:solidFill>
                  <a:srgbClr val="7FD3E0"/>
                </a:solidFill>
                <a:latin typeface="Courier New" panose="02070309020205020404" pitchFamily="34" charset="0"/>
                <a:ea typeface="Courier New" panose="02070309020205020404" pitchFamily="34" charset="-122"/>
                <a:cs typeface="Courier New" panose="02070309020205020404" pitchFamily="34" charset="-120"/>
              </a:rPr>
              <a:t>STRUCTURED</a:t>
            </a:r>
            <a:endParaRPr lang="en-US" sz="1000" dirty="0"/>
          </a:p>
        </p:txBody>
      </p:sp>
      <p:sp>
        <p:nvSpPr>
          <p:cNvPr id="12" name="Shape 9"/>
          <p:cNvSpPr/>
          <p:nvPr/>
        </p:nvSpPr>
        <p:spPr>
          <a:xfrm>
            <a:off x="6400800" y="2697480"/>
            <a:ext cx="2468880" cy="347472"/>
          </a:xfrm>
          <a:prstGeom prst="rect">
            <a:avLst/>
          </a:prstGeom>
          <a:solidFill>
            <a:srgbClr val="16315F"/>
          </a:solidFill>
          <a:ln w="12700">
            <a:solidFill>
              <a:srgbClr val="2A4A80"/>
            </a:solidFill>
            <a:prstDash val="solid"/>
          </a:ln>
        </p:spPr>
      </p:sp>
      <p:sp>
        <p:nvSpPr>
          <p:cNvPr id="13" name="Text 10"/>
          <p:cNvSpPr txBox="1"/>
          <p:nvPr/>
        </p:nvSpPr>
        <p:spPr>
          <a:xfrm>
            <a:off x="6537960" y="2697480"/>
            <a:ext cx="2286000" cy="347472"/>
          </a:xfrm>
          <a:prstGeom prst="rect">
            <a:avLst/>
          </a:prstGeom>
          <a:noFill/>
        </p:spPr>
        <p:txBody>
          <a:bodyPr wrap="square" lIns="0" tIns="0" rIns="0" bIns="0" rtlCol="0" anchor="ctr"/>
          <a:lstStyle/>
          <a:p>
            <a:pPr marL="0" indent="0">
              <a:buNone/>
            </a:pPr>
            <a:r>
              <a:rPr lang="en-US" sz="11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category</a:t>
            </a:r>
            <a:endParaRPr lang="en-US" sz="1100" dirty="0"/>
          </a:p>
        </p:txBody>
      </p:sp>
      <p:sp>
        <p:nvSpPr>
          <p:cNvPr id="14" name="Shape 11"/>
          <p:cNvSpPr/>
          <p:nvPr/>
        </p:nvSpPr>
        <p:spPr>
          <a:xfrm>
            <a:off x="6400800" y="3154680"/>
            <a:ext cx="2468880" cy="347472"/>
          </a:xfrm>
          <a:prstGeom prst="rect">
            <a:avLst/>
          </a:prstGeom>
          <a:solidFill>
            <a:srgbClr val="16315F"/>
          </a:solidFill>
          <a:ln w="12700">
            <a:solidFill>
              <a:srgbClr val="2A4A80"/>
            </a:solidFill>
            <a:prstDash val="solid"/>
          </a:ln>
        </p:spPr>
      </p:sp>
      <p:sp>
        <p:nvSpPr>
          <p:cNvPr id="15" name="Text 12"/>
          <p:cNvSpPr txBox="1"/>
          <p:nvPr/>
        </p:nvSpPr>
        <p:spPr>
          <a:xfrm>
            <a:off x="6537960" y="3154680"/>
            <a:ext cx="2286000" cy="347472"/>
          </a:xfrm>
          <a:prstGeom prst="rect">
            <a:avLst/>
          </a:prstGeom>
          <a:noFill/>
        </p:spPr>
        <p:txBody>
          <a:bodyPr wrap="square" lIns="0" tIns="0" rIns="0" bIns="0" rtlCol="0" anchor="ctr"/>
          <a:lstStyle/>
          <a:p>
            <a:pPr marL="0" indent="0">
              <a:buNone/>
            </a:pPr>
            <a:r>
              <a:rPr lang="en-US" sz="11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confidence</a:t>
            </a:r>
            <a:endParaRPr lang="en-US" sz="1100" dirty="0"/>
          </a:p>
        </p:txBody>
      </p:sp>
      <p:sp>
        <p:nvSpPr>
          <p:cNvPr id="16" name="Shape 13"/>
          <p:cNvSpPr/>
          <p:nvPr/>
        </p:nvSpPr>
        <p:spPr>
          <a:xfrm>
            <a:off x="6400800" y="3611880"/>
            <a:ext cx="2468880" cy="347472"/>
          </a:xfrm>
          <a:prstGeom prst="rect">
            <a:avLst/>
          </a:prstGeom>
          <a:solidFill>
            <a:srgbClr val="16315F"/>
          </a:solidFill>
          <a:ln w="12700">
            <a:solidFill>
              <a:srgbClr val="2A4A80"/>
            </a:solidFill>
            <a:prstDash val="solid"/>
          </a:ln>
        </p:spPr>
      </p:sp>
      <p:sp>
        <p:nvSpPr>
          <p:cNvPr id="17" name="Text 14"/>
          <p:cNvSpPr txBox="1"/>
          <p:nvPr/>
        </p:nvSpPr>
        <p:spPr>
          <a:xfrm>
            <a:off x="6537960" y="3611880"/>
            <a:ext cx="2286000" cy="347472"/>
          </a:xfrm>
          <a:prstGeom prst="rect">
            <a:avLst/>
          </a:prstGeom>
          <a:noFill/>
        </p:spPr>
        <p:txBody>
          <a:bodyPr wrap="square" lIns="0" tIns="0" rIns="0" bIns="0" rtlCol="0" anchor="ctr"/>
          <a:lstStyle/>
          <a:p>
            <a:pPr marL="0" indent="0">
              <a:buNone/>
            </a:pPr>
            <a:r>
              <a:rPr lang="en-US" sz="11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explanation</a:t>
            </a:r>
            <a:endParaRPr lang="en-US" sz="1100" dirty="0"/>
          </a:p>
        </p:txBody>
      </p:sp>
      <p:sp>
        <p:nvSpPr>
          <p:cNvPr id="18" name="Shape 15"/>
          <p:cNvSpPr/>
          <p:nvPr/>
        </p:nvSpPr>
        <p:spPr>
          <a:xfrm>
            <a:off x="6400800" y="4069080"/>
            <a:ext cx="2468880" cy="347472"/>
          </a:xfrm>
          <a:prstGeom prst="rect">
            <a:avLst/>
          </a:prstGeom>
          <a:solidFill>
            <a:srgbClr val="16315F"/>
          </a:solidFill>
          <a:ln w="12700">
            <a:solidFill>
              <a:srgbClr val="2A4A80"/>
            </a:solidFill>
            <a:prstDash val="solid"/>
          </a:ln>
        </p:spPr>
      </p:sp>
      <p:sp>
        <p:nvSpPr>
          <p:cNvPr id="19" name="Text 16"/>
          <p:cNvSpPr txBox="1"/>
          <p:nvPr/>
        </p:nvSpPr>
        <p:spPr>
          <a:xfrm>
            <a:off x="6537960" y="4069080"/>
            <a:ext cx="2286000" cy="347472"/>
          </a:xfrm>
          <a:prstGeom prst="rect">
            <a:avLst/>
          </a:prstGeom>
          <a:noFill/>
        </p:spPr>
        <p:txBody>
          <a:bodyPr wrap="square" lIns="0" tIns="0" rIns="0" bIns="0" rtlCol="0" anchor="ctr"/>
          <a:lstStyle/>
          <a:p>
            <a:pPr marL="0" indent="0">
              <a:buNone/>
            </a:pPr>
            <a:r>
              <a:rPr lang="en-US" sz="11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review decision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From free text to a triage decision</a:t>
            </a:r>
            <a:endParaRPr lang="en-US" sz="3000" dirty="0"/>
          </a:p>
        </p:txBody>
      </p:sp>
      <p:sp>
        <p:nvSpPr>
          <p:cNvPr id="4" name="Shape 1"/>
          <p:cNvSpPr/>
          <p:nvPr/>
        </p:nvSpPr>
        <p:spPr>
          <a:xfrm>
            <a:off x="457200" y="1280160"/>
            <a:ext cx="3840480" cy="2286000"/>
          </a:xfrm>
          <a:prstGeom prst="rect">
            <a:avLst/>
          </a:prstGeom>
          <a:solidFill>
            <a:srgbClr val="FFFFFF"/>
          </a:solidFill>
          <a:ln w="12700">
            <a:solidFill>
              <a:srgbClr val="D8DDE3"/>
            </a:solidFill>
            <a:prstDash val="solid"/>
          </a:ln>
        </p:spPr>
      </p:sp>
      <p:sp>
        <p:nvSpPr>
          <p:cNvPr id="5" name="Text 2"/>
          <p:cNvSpPr txBox="1"/>
          <p:nvPr/>
        </p:nvSpPr>
        <p:spPr>
          <a:xfrm>
            <a:off x="640080" y="1417320"/>
            <a:ext cx="3474720" cy="274320"/>
          </a:xfrm>
          <a:prstGeom prst="rect">
            <a:avLst/>
          </a:prstGeom>
          <a:noFill/>
        </p:spPr>
        <p:txBody>
          <a:bodyPr wrap="square" lIns="0" tIns="0" rIns="0" bIns="0" rtlCol="0" anchor="t"/>
          <a:lstStyle/>
          <a:p>
            <a:pPr marL="0" indent="0">
              <a:buNone/>
            </a:pPr>
            <a:r>
              <a:rPr lang="en-US" sz="1000" b="1"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UNSTRUCTURED COMPLAINT</a:t>
            </a:r>
            <a:endParaRPr lang="en-US" sz="1000" dirty="0"/>
          </a:p>
        </p:txBody>
      </p:sp>
      <p:sp>
        <p:nvSpPr>
          <p:cNvPr id="6" name="Text 3"/>
          <p:cNvSpPr txBox="1"/>
          <p:nvPr/>
        </p:nvSpPr>
        <p:spPr>
          <a:xfrm>
            <a:off x="640080" y="1828800"/>
            <a:ext cx="3474720" cy="1371600"/>
          </a:xfrm>
          <a:prstGeom prst="rect">
            <a:avLst/>
          </a:prstGeom>
          <a:noFill/>
        </p:spPr>
        <p:txBody>
          <a:bodyPr wrap="square" lIns="0" tIns="0" rIns="0" bIns="0" rtlCol="0" anchor="t"/>
          <a:lstStyle/>
          <a:p>
            <a:pPr marL="0" indent="0">
              <a:buNone/>
            </a:pPr>
            <a:r>
              <a:rPr lang="en-US" sz="2000" i="1" dirty="0">
                <a:solidFill>
                  <a:srgbClr val="0B1E3F"/>
                </a:solidFill>
                <a:latin typeface="Cambria" panose="02040503050406030204" pitchFamily="34" charset="0"/>
                <a:ea typeface="Cambria" panose="02040503050406030204" pitchFamily="34" charset="-122"/>
                <a:cs typeface="Cambria" panose="02040503050406030204" pitchFamily="34" charset="-120"/>
              </a:rPr>
              <a:t>Money was </a:t>
            </a:r>
            <a:r>
              <a:rPr lang="en-US" sz="2000" b="1" i="1" dirty="0">
                <a:solidFill>
                  <a:srgbClr val="D9822B"/>
                </a:solidFill>
                <a:latin typeface="Cambria" panose="02040503050406030204" pitchFamily="34" charset="0"/>
                <a:ea typeface="Cambria" panose="02040503050406030204" pitchFamily="34" charset="-122"/>
                <a:cs typeface="Cambria" panose="02040503050406030204" pitchFamily="34" charset="-120"/>
              </a:rPr>
              <a:t>deducted</a:t>
            </a:r>
            <a:r>
              <a:rPr lang="en-US" sz="2000" i="1" dirty="0">
                <a:solidFill>
                  <a:srgbClr val="0B1E3F"/>
                </a:solidFill>
                <a:latin typeface="Cambria" panose="02040503050406030204" pitchFamily="34" charset="0"/>
                <a:ea typeface="Cambria" panose="02040503050406030204" pitchFamily="34" charset="-122"/>
                <a:cs typeface="Cambria" panose="02040503050406030204" pitchFamily="34" charset="-120"/>
              </a:rPr>
              <a:t> but receiver did not get it</a:t>
            </a:r>
            <a:endParaRPr lang="en-US" sz="2000" dirty="0"/>
          </a:p>
        </p:txBody>
      </p:sp>
      <p:sp>
        <p:nvSpPr>
          <p:cNvPr id="7" name="Text 4"/>
          <p:cNvSpPr txBox="1"/>
          <p:nvPr/>
        </p:nvSpPr>
        <p:spPr>
          <a:xfrm>
            <a:off x="4343400" y="2240280"/>
            <a:ext cx="457200" cy="457200"/>
          </a:xfrm>
          <a:prstGeom prst="rect">
            <a:avLst/>
          </a:prstGeom>
          <a:noFill/>
        </p:spPr>
        <p:txBody>
          <a:bodyPr wrap="square" lIns="0" tIns="0" rIns="0" bIns="0" rtlCol="0" anchor="t"/>
          <a:lstStyle/>
          <a:p>
            <a:pPr marL="0" indent="0" algn="ctr">
              <a:buNone/>
            </a:pPr>
            <a:r>
              <a:rPr lang="en-US" sz="26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8" name="Shape 5"/>
          <p:cNvSpPr/>
          <p:nvPr/>
        </p:nvSpPr>
        <p:spPr>
          <a:xfrm>
            <a:off x="4846320" y="1280160"/>
            <a:ext cx="3840480" cy="2286000"/>
          </a:xfrm>
          <a:prstGeom prst="rect">
            <a:avLst/>
          </a:prstGeom>
          <a:solidFill>
            <a:srgbClr val="0B1E3F"/>
          </a:solidFill>
          <a:ln w="12700">
            <a:solidFill>
              <a:srgbClr val="0B1E3F"/>
            </a:solidFill>
            <a:prstDash val="solid"/>
          </a:ln>
        </p:spPr>
      </p:sp>
      <p:sp>
        <p:nvSpPr>
          <p:cNvPr id="9" name="Text 6"/>
          <p:cNvSpPr txBox="1"/>
          <p:nvPr/>
        </p:nvSpPr>
        <p:spPr>
          <a:xfrm>
            <a:off x="5029200" y="1417320"/>
            <a:ext cx="3474720" cy="274320"/>
          </a:xfrm>
          <a:prstGeom prst="rect">
            <a:avLst/>
          </a:prstGeom>
          <a:noFill/>
        </p:spPr>
        <p:txBody>
          <a:bodyPr wrap="square" lIns="0" tIns="0" rIns="0" bIns="0" rtlCol="0" anchor="t"/>
          <a:lstStyle/>
          <a:p>
            <a:pPr marL="0" indent="0">
              <a:buNone/>
            </a:pPr>
            <a:r>
              <a:rPr lang="en-US" sz="1000" b="1" dirty="0">
                <a:solidFill>
                  <a:srgbClr val="7FD3E0"/>
                </a:solidFill>
                <a:latin typeface="Courier New" panose="02070309020205020404" pitchFamily="34" charset="0"/>
                <a:ea typeface="Courier New" panose="02070309020205020404" pitchFamily="34" charset="-122"/>
                <a:cs typeface="Courier New" panose="02070309020205020404" pitchFamily="34" charset="-120"/>
              </a:rPr>
              <a:t>FINROOT OUTPUT</a:t>
            </a:r>
            <a:endParaRPr lang="en-US" sz="1000" dirty="0"/>
          </a:p>
        </p:txBody>
      </p:sp>
      <p:sp>
        <p:nvSpPr>
          <p:cNvPr id="10" name="Text 7"/>
          <p:cNvSpPr txBox="1"/>
          <p:nvPr/>
        </p:nvSpPr>
        <p:spPr>
          <a:xfrm>
            <a:off x="5029200" y="1828800"/>
            <a:ext cx="1188720" cy="365760"/>
          </a:xfrm>
          <a:prstGeom prst="rect">
            <a:avLst/>
          </a:prstGeom>
          <a:noFill/>
        </p:spPr>
        <p:txBody>
          <a:bodyPr wrap="square" lIns="0" tIns="0" rIns="0" bIns="0" rtlCol="0" anchor="t"/>
          <a:lstStyle/>
          <a:p>
            <a:pPr marL="0" indent="0">
              <a:buNone/>
            </a:pPr>
            <a:r>
              <a:rPr lang="en-US" sz="1200" dirty="0">
                <a:solidFill>
                  <a:srgbClr val="AEBBD0"/>
                </a:solidFill>
                <a:latin typeface="Calibri" panose="020F0502020204030204" pitchFamily="34" charset="0"/>
                <a:ea typeface="Calibri" panose="020F0502020204030204" pitchFamily="34" charset="-122"/>
                <a:cs typeface="Calibri" panose="020F0502020204030204" pitchFamily="34" charset="-120"/>
              </a:rPr>
              <a:t>Category</a:t>
            </a:r>
            <a:endParaRPr lang="en-US" sz="1200" dirty="0"/>
          </a:p>
        </p:txBody>
      </p:sp>
      <p:sp>
        <p:nvSpPr>
          <p:cNvPr id="11" name="Text 8"/>
          <p:cNvSpPr txBox="1"/>
          <p:nvPr/>
        </p:nvSpPr>
        <p:spPr>
          <a:xfrm>
            <a:off x="6217920" y="1828800"/>
            <a:ext cx="2377440" cy="365760"/>
          </a:xfrm>
          <a:prstGeom prst="rect">
            <a:avLst/>
          </a:prstGeom>
          <a:noFill/>
        </p:spPr>
        <p:txBody>
          <a:bodyPr wrap="square" lIns="0" tIns="0" rIns="0" bIns="0" rtlCol="0" anchor="t"/>
          <a:lstStyle/>
          <a:p>
            <a:pPr marL="0" indent="0">
              <a:buNone/>
            </a:pPr>
            <a:r>
              <a:rPr lang="en-US" sz="12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OTHER_FINANCIAL_DISPUTE</a:t>
            </a:r>
            <a:endParaRPr lang="en-US" sz="1200" dirty="0"/>
          </a:p>
        </p:txBody>
      </p:sp>
      <p:sp>
        <p:nvSpPr>
          <p:cNvPr id="12" name="Text 9"/>
          <p:cNvSpPr txBox="1"/>
          <p:nvPr/>
        </p:nvSpPr>
        <p:spPr>
          <a:xfrm>
            <a:off x="5029200" y="2240280"/>
            <a:ext cx="1188720" cy="365760"/>
          </a:xfrm>
          <a:prstGeom prst="rect">
            <a:avLst/>
          </a:prstGeom>
          <a:noFill/>
        </p:spPr>
        <p:txBody>
          <a:bodyPr wrap="square" lIns="0" tIns="0" rIns="0" bIns="0" rtlCol="0" anchor="t"/>
          <a:lstStyle/>
          <a:p>
            <a:pPr marL="0" indent="0">
              <a:buNone/>
            </a:pPr>
            <a:r>
              <a:rPr lang="en-US" sz="1200" dirty="0">
                <a:solidFill>
                  <a:srgbClr val="AEBBD0"/>
                </a:solidFill>
                <a:latin typeface="Calibri" panose="020F0502020204030204" pitchFamily="34" charset="0"/>
                <a:ea typeface="Calibri" panose="020F0502020204030204" pitchFamily="34" charset="-122"/>
                <a:cs typeface="Calibri" panose="020F0502020204030204" pitchFamily="34" charset="-120"/>
              </a:rPr>
              <a:t>Confidence</a:t>
            </a:r>
            <a:endParaRPr lang="en-US" sz="1200" dirty="0"/>
          </a:p>
        </p:txBody>
      </p:sp>
      <p:sp>
        <p:nvSpPr>
          <p:cNvPr id="13" name="Text 10"/>
          <p:cNvSpPr txBox="1"/>
          <p:nvPr/>
        </p:nvSpPr>
        <p:spPr>
          <a:xfrm>
            <a:off x="6217920" y="2240280"/>
            <a:ext cx="2377440" cy="365760"/>
          </a:xfrm>
          <a:prstGeom prst="rect">
            <a:avLst/>
          </a:prstGeom>
          <a:noFill/>
        </p:spPr>
        <p:txBody>
          <a:bodyPr wrap="square" lIns="0" tIns="0" rIns="0" bIns="0" rtlCol="0" anchor="t"/>
          <a:lstStyle/>
          <a:p>
            <a:pPr marL="0" indent="0">
              <a:buNone/>
            </a:pPr>
            <a:r>
              <a:rPr lang="en-US" sz="12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0.468</a:t>
            </a:r>
            <a:endParaRPr lang="en-US" sz="1200" dirty="0"/>
          </a:p>
        </p:txBody>
      </p:sp>
      <p:sp>
        <p:nvSpPr>
          <p:cNvPr id="14" name="Text 11"/>
          <p:cNvSpPr txBox="1"/>
          <p:nvPr/>
        </p:nvSpPr>
        <p:spPr>
          <a:xfrm>
            <a:off x="5029200" y="2651760"/>
            <a:ext cx="1188720" cy="365760"/>
          </a:xfrm>
          <a:prstGeom prst="rect">
            <a:avLst/>
          </a:prstGeom>
          <a:noFill/>
        </p:spPr>
        <p:txBody>
          <a:bodyPr wrap="square" lIns="0" tIns="0" rIns="0" bIns="0" rtlCol="0" anchor="t"/>
          <a:lstStyle/>
          <a:p>
            <a:pPr marL="0" indent="0">
              <a:buNone/>
            </a:pPr>
            <a:r>
              <a:rPr lang="en-US" sz="1200" dirty="0">
                <a:solidFill>
                  <a:srgbClr val="AEBBD0"/>
                </a:solidFill>
                <a:latin typeface="Calibri" panose="020F0502020204030204" pitchFamily="34" charset="0"/>
                <a:ea typeface="Calibri" panose="020F0502020204030204" pitchFamily="34" charset="-122"/>
                <a:cs typeface="Calibri" panose="020F0502020204030204" pitchFamily="34" charset="-120"/>
              </a:rPr>
              <a:t>Key word</a:t>
            </a:r>
            <a:endParaRPr lang="en-US" sz="1200" dirty="0"/>
          </a:p>
        </p:txBody>
      </p:sp>
      <p:sp>
        <p:nvSpPr>
          <p:cNvPr id="15" name="Text 12"/>
          <p:cNvSpPr txBox="1"/>
          <p:nvPr/>
        </p:nvSpPr>
        <p:spPr>
          <a:xfrm>
            <a:off x="6217920" y="2651760"/>
            <a:ext cx="2377440" cy="365760"/>
          </a:xfrm>
          <a:prstGeom prst="rect">
            <a:avLst/>
          </a:prstGeom>
          <a:noFill/>
        </p:spPr>
        <p:txBody>
          <a:bodyPr wrap="square" lIns="0" tIns="0" rIns="0" bIns="0" rtlCol="0" anchor="t"/>
          <a:lstStyle/>
          <a:p>
            <a:pPr marL="0" indent="0">
              <a:buNone/>
            </a:pPr>
            <a:r>
              <a:rPr lang="en-US" sz="12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"deducted" (−0.35)</a:t>
            </a:r>
            <a:endParaRPr lang="en-US" sz="1200" dirty="0"/>
          </a:p>
        </p:txBody>
      </p:sp>
      <p:sp>
        <p:nvSpPr>
          <p:cNvPr id="16" name="Text 13"/>
          <p:cNvSpPr txBox="1"/>
          <p:nvPr/>
        </p:nvSpPr>
        <p:spPr>
          <a:xfrm>
            <a:off x="5029200" y="3063240"/>
            <a:ext cx="1188720" cy="365760"/>
          </a:xfrm>
          <a:prstGeom prst="rect">
            <a:avLst/>
          </a:prstGeom>
          <a:noFill/>
        </p:spPr>
        <p:txBody>
          <a:bodyPr wrap="square" lIns="0" tIns="0" rIns="0" bIns="0" rtlCol="0" anchor="t"/>
          <a:lstStyle/>
          <a:p>
            <a:pPr marL="0" indent="0">
              <a:buNone/>
            </a:pPr>
            <a:r>
              <a:rPr lang="en-US" sz="1200" dirty="0">
                <a:solidFill>
                  <a:srgbClr val="AEBBD0"/>
                </a:solidFill>
                <a:latin typeface="Calibri" panose="020F0502020204030204" pitchFamily="34" charset="0"/>
                <a:ea typeface="Calibri" panose="020F0502020204030204" pitchFamily="34" charset="-122"/>
                <a:cs typeface="Calibri" panose="020F0502020204030204" pitchFamily="34" charset="-120"/>
              </a:rPr>
              <a:t>Decision</a:t>
            </a:r>
            <a:endParaRPr lang="en-US" sz="1200" dirty="0"/>
          </a:p>
        </p:txBody>
      </p:sp>
      <p:sp>
        <p:nvSpPr>
          <p:cNvPr id="17" name="Text 14"/>
          <p:cNvSpPr txBox="1"/>
          <p:nvPr/>
        </p:nvSpPr>
        <p:spPr>
          <a:xfrm>
            <a:off x="6217920" y="3063240"/>
            <a:ext cx="2377440" cy="365760"/>
          </a:xfrm>
          <a:prstGeom prst="rect">
            <a:avLst/>
          </a:prstGeom>
          <a:noFill/>
        </p:spPr>
        <p:txBody>
          <a:bodyPr wrap="square" lIns="0" tIns="0" rIns="0" bIns="0" rtlCol="0" anchor="t"/>
          <a:lstStyle/>
          <a:p>
            <a:pPr marL="0" indent="0">
              <a:buNone/>
            </a:pPr>
            <a:r>
              <a:rPr lang="en-US" sz="1200" b="1" dirty="0">
                <a:solidFill>
                  <a:srgbClr val="F0B35E"/>
                </a:solidFill>
                <a:latin typeface="Courier New" panose="02070309020205020404" pitchFamily="34" charset="0"/>
                <a:ea typeface="Courier New" panose="02070309020205020404" pitchFamily="34" charset="-122"/>
                <a:cs typeface="Courier New" panose="02070309020205020404" pitchFamily="34" charset="-120"/>
              </a:rPr>
              <a:t>Human review</a:t>
            </a:r>
            <a:endParaRPr lang="en-US" sz="1200" dirty="0"/>
          </a:p>
        </p:txBody>
      </p:sp>
      <p:sp>
        <p:nvSpPr>
          <p:cNvPr id="18" name="Shape 15"/>
          <p:cNvSpPr/>
          <p:nvPr/>
        </p:nvSpPr>
        <p:spPr>
          <a:xfrm>
            <a:off x="457200" y="3794760"/>
            <a:ext cx="8229600" cy="685800"/>
          </a:xfrm>
          <a:prstGeom prst="rect">
            <a:avLst/>
          </a:prstGeom>
          <a:solidFill>
            <a:srgbClr val="DDF1F4"/>
          </a:solidFill>
          <a:ln w="12700">
            <a:solidFill>
              <a:srgbClr val="12A0B5"/>
            </a:solidFill>
            <a:prstDash val="solid"/>
          </a:ln>
        </p:spPr>
      </p:sp>
      <p:sp>
        <p:nvSpPr>
          <p:cNvPr id="19" name="Text 16"/>
          <p:cNvSpPr txBox="1"/>
          <p:nvPr/>
        </p:nvSpPr>
        <p:spPr>
          <a:xfrm>
            <a:off x="640080" y="3794760"/>
            <a:ext cx="7863840" cy="685800"/>
          </a:xfrm>
          <a:prstGeom prst="rect">
            <a:avLst/>
          </a:prstGeom>
          <a:noFill/>
        </p:spPr>
        <p:txBody>
          <a:bodyPr wrap="square" lIns="0" tIns="0" rIns="0" bIns="0" rtlCol="0" anchor="ctr"/>
          <a:lstStyle/>
          <a:p>
            <a:pPr marL="0" indent="0">
              <a:buNone/>
            </a:pPr>
            <a:r>
              <a:rPr lang="en-US" sz="1500" i="1" dirty="0">
                <a:solidFill>
                  <a:srgbClr val="0B1E3F"/>
                </a:solidFill>
                <a:latin typeface="Cambria" panose="02040503050406030204" pitchFamily="34" charset="0"/>
                <a:ea typeface="Cambria" panose="02040503050406030204" pitchFamily="34" charset="-122"/>
                <a:cs typeface="Cambria" panose="02040503050406030204" pitchFamily="34" charset="-120"/>
              </a:rPr>
              <a:t>How can NLP turn unstructured financial complaints into explainable category predictions and triage decisions, while flagging uncertain cases for a human?</a:t>
            </a:r>
            <a:endParaRPr lang="en-US" sz="1500" dirty="0"/>
          </a:p>
        </p:txBody>
      </p:sp>
      <p:sp>
        <p:nvSpPr>
          <p:cNvPr id="20" name="Text 17"/>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21" name="Text 18"/>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Inside FINROOT: Complaint to Explainable Decision</a:t>
            </a:r>
            <a:endParaRPr lang="en-US" sz="3000" dirty="0"/>
          </a:p>
        </p:txBody>
      </p:sp>
      <p:sp>
        <p:nvSpPr>
          <p:cNvPr id="4" name="Shape 1"/>
          <p:cNvSpPr/>
          <p:nvPr/>
        </p:nvSpPr>
        <p:spPr>
          <a:xfrm>
            <a:off x="411480" y="1371600"/>
            <a:ext cx="1371600" cy="1554480"/>
          </a:xfrm>
          <a:prstGeom prst="rect">
            <a:avLst/>
          </a:prstGeom>
          <a:solidFill>
            <a:srgbClr val="FFFFFF"/>
          </a:solidFill>
          <a:ln w="12700">
            <a:solidFill>
              <a:srgbClr val="12A0B5"/>
            </a:solidFill>
            <a:prstDash val="solid"/>
          </a:ln>
        </p:spPr>
      </p:sp>
      <p:sp>
        <p:nvSpPr>
          <p:cNvPr id="5" name="Text 2"/>
          <p:cNvSpPr txBox="1"/>
          <p:nvPr/>
        </p:nvSpPr>
        <p:spPr>
          <a:xfrm>
            <a:off x="521208" y="1444752"/>
            <a:ext cx="457200" cy="411480"/>
          </a:xfrm>
          <a:prstGeom prst="rect">
            <a:avLst/>
          </a:prstGeom>
          <a:noFill/>
        </p:spPr>
        <p:txBody>
          <a:bodyPr wrap="square" lIns="0" tIns="0" rIns="0" bIns="0" rtlCol="0" anchor="t"/>
          <a:lstStyle/>
          <a:p>
            <a:pPr marL="0" indent="0">
              <a:buNone/>
            </a:pPr>
            <a:r>
              <a:rPr lang="en-US" sz="2200" b="1" dirty="0">
                <a:solidFill>
                  <a:srgbClr val="12A0B5"/>
                </a:solidFill>
                <a:latin typeface="Cambria" panose="02040503050406030204" pitchFamily="34" charset="0"/>
                <a:ea typeface="Cambria" panose="02040503050406030204" pitchFamily="34" charset="-122"/>
                <a:cs typeface="Cambria" panose="02040503050406030204" pitchFamily="34" charset="-120"/>
              </a:rPr>
              <a:t>1</a:t>
            </a:r>
            <a:endParaRPr lang="en-US" sz="2200" dirty="0"/>
          </a:p>
        </p:txBody>
      </p:sp>
      <p:sp>
        <p:nvSpPr>
          <p:cNvPr id="6" name="Text 3"/>
          <p:cNvSpPr txBox="1"/>
          <p:nvPr/>
        </p:nvSpPr>
        <p:spPr>
          <a:xfrm>
            <a:off x="521208" y="1920240"/>
            <a:ext cx="118872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COMPLAINT</a:t>
            </a:r>
            <a:endParaRPr lang="en-US" sz="1000" dirty="0"/>
          </a:p>
        </p:txBody>
      </p:sp>
      <p:sp>
        <p:nvSpPr>
          <p:cNvPr id="7" name="Text 4"/>
          <p:cNvSpPr txBox="1"/>
          <p:nvPr/>
        </p:nvSpPr>
        <p:spPr>
          <a:xfrm>
            <a:off x="521208" y="2212848"/>
            <a:ext cx="11887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Free text</a:t>
            </a:r>
            <a:endParaRPr lang="en-US" sz="1200" dirty="0"/>
          </a:p>
        </p:txBody>
      </p:sp>
      <p:sp>
        <p:nvSpPr>
          <p:cNvPr id="8" name="Text 5"/>
          <p:cNvSpPr txBox="1"/>
          <p:nvPr/>
        </p:nvSpPr>
        <p:spPr>
          <a:xfrm>
            <a:off x="1783080" y="1828800"/>
            <a:ext cx="365760" cy="365760"/>
          </a:xfrm>
          <a:prstGeom prst="rect">
            <a:avLst/>
          </a:prstGeom>
          <a:noFill/>
        </p:spPr>
        <p:txBody>
          <a:bodyPr wrap="square" lIns="0" tIns="0" rIns="0" bIns="0" rtlCol="0" anchor="t"/>
          <a:lstStyle/>
          <a:p>
            <a:pPr marL="0" indent="0" algn="ctr">
              <a:buNone/>
            </a:pPr>
            <a:r>
              <a:rPr lang="en-US" sz="20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9" name="Shape 6"/>
          <p:cNvSpPr/>
          <p:nvPr/>
        </p:nvSpPr>
        <p:spPr>
          <a:xfrm>
            <a:off x="2148840" y="1371600"/>
            <a:ext cx="1371600" cy="1554480"/>
          </a:xfrm>
          <a:prstGeom prst="rect">
            <a:avLst/>
          </a:prstGeom>
          <a:solidFill>
            <a:srgbClr val="FFFFFF"/>
          </a:solidFill>
          <a:ln w="12700">
            <a:solidFill>
              <a:srgbClr val="12A0B5"/>
            </a:solidFill>
            <a:prstDash val="solid"/>
          </a:ln>
        </p:spPr>
      </p:sp>
      <p:sp>
        <p:nvSpPr>
          <p:cNvPr id="10" name="Text 7"/>
          <p:cNvSpPr txBox="1"/>
          <p:nvPr/>
        </p:nvSpPr>
        <p:spPr>
          <a:xfrm>
            <a:off x="2258568" y="1444752"/>
            <a:ext cx="457200" cy="411480"/>
          </a:xfrm>
          <a:prstGeom prst="rect">
            <a:avLst/>
          </a:prstGeom>
          <a:noFill/>
        </p:spPr>
        <p:txBody>
          <a:bodyPr wrap="square" lIns="0" tIns="0" rIns="0" bIns="0" rtlCol="0" anchor="t"/>
          <a:lstStyle/>
          <a:p>
            <a:pPr marL="0" indent="0">
              <a:buNone/>
            </a:pPr>
            <a:r>
              <a:rPr lang="en-US" sz="2200" b="1" dirty="0">
                <a:solidFill>
                  <a:srgbClr val="12A0B5"/>
                </a:solidFill>
                <a:latin typeface="Cambria" panose="02040503050406030204" pitchFamily="34" charset="0"/>
                <a:ea typeface="Cambria" panose="02040503050406030204" pitchFamily="34" charset="-122"/>
                <a:cs typeface="Cambria" panose="02040503050406030204" pitchFamily="34" charset="-120"/>
              </a:rPr>
              <a:t>2</a:t>
            </a:r>
            <a:endParaRPr lang="en-US" sz="2200" dirty="0"/>
          </a:p>
        </p:txBody>
      </p:sp>
      <p:sp>
        <p:nvSpPr>
          <p:cNvPr id="11" name="Text 8"/>
          <p:cNvSpPr txBox="1"/>
          <p:nvPr/>
        </p:nvSpPr>
        <p:spPr>
          <a:xfrm>
            <a:off x="2258568" y="1920240"/>
            <a:ext cx="118872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PREPARE</a:t>
            </a:r>
            <a:endParaRPr lang="en-US" sz="1000" dirty="0"/>
          </a:p>
        </p:txBody>
      </p:sp>
      <p:sp>
        <p:nvSpPr>
          <p:cNvPr id="12" name="Text 9"/>
          <p:cNvSpPr txBox="1"/>
          <p:nvPr/>
        </p:nvSpPr>
        <p:spPr>
          <a:xfrm>
            <a:off x="2258568" y="2212848"/>
            <a:ext cx="11887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Normalise text</a:t>
            </a:r>
            <a:endParaRPr lang="en-US" sz="1200" dirty="0"/>
          </a:p>
        </p:txBody>
      </p:sp>
      <p:sp>
        <p:nvSpPr>
          <p:cNvPr id="13" name="Text 10"/>
          <p:cNvSpPr txBox="1"/>
          <p:nvPr/>
        </p:nvSpPr>
        <p:spPr>
          <a:xfrm>
            <a:off x="3520440" y="1828800"/>
            <a:ext cx="365760" cy="365760"/>
          </a:xfrm>
          <a:prstGeom prst="rect">
            <a:avLst/>
          </a:prstGeom>
          <a:noFill/>
        </p:spPr>
        <p:txBody>
          <a:bodyPr wrap="square" lIns="0" tIns="0" rIns="0" bIns="0" rtlCol="0" anchor="t"/>
          <a:lstStyle/>
          <a:p>
            <a:pPr marL="0" indent="0" algn="ctr">
              <a:buNone/>
            </a:pPr>
            <a:r>
              <a:rPr lang="en-US" sz="20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4" name="Shape 11"/>
          <p:cNvSpPr/>
          <p:nvPr/>
        </p:nvSpPr>
        <p:spPr>
          <a:xfrm>
            <a:off x="3886200" y="1371600"/>
            <a:ext cx="1371600" cy="1554480"/>
          </a:xfrm>
          <a:prstGeom prst="rect">
            <a:avLst/>
          </a:prstGeom>
          <a:solidFill>
            <a:srgbClr val="0B1E3F"/>
          </a:solidFill>
          <a:ln w="12700">
            <a:solidFill>
              <a:srgbClr val="12A0B5"/>
            </a:solidFill>
            <a:prstDash val="solid"/>
          </a:ln>
        </p:spPr>
      </p:sp>
      <p:sp>
        <p:nvSpPr>
          <p:cNvPr id="15" name="Text 12"/>
          <p:cNvSpPr txBox="1"/>
          <p:nvPr/>
        </p:nvSpPr>
        <p:spPr>
          <a:xfrm>
            <a:off x="3995928" y="1444752"/>
            <a:ext cx="457200" cy="411480"/>
          </a:xfrm>
          <a:prstGeom prst="rect">
            <a:avLst/>
          </a:prstGeom>
          <a:noFill/>
        </p:spPr>
        <p:txBody>
          <a:bodyPr wrap="square" lIns="0" tIns="0" rIns="0" bIns="0" rtlCol="0" anchor="t"/>
          <a:lstStyle/>
          <a:p>
            <a:pPr marL="0" indent="0">
              <a:buNone/>
            </a:pPr>
            <a:r>
              <a:rPr lang="en-US" sz="2200" b="1" dirty="0">
                <a:solidFill>
                  <a:srgbClr val="7FD3E0"/>
                </a:solidFill>
                <a:latin typeface="Cambria" panose="02040503050406030204" pitchFamily="34" charset="0"/>
                <a:ea typeface="Cambria" panose="02040503050406030204" pitchFamily="34" charset="-122"/>
                <a:cs typeface="Cambria" panose="02040503050406030204" pitchFamily="34" charset="-120"/>
              </a:rPr>
              <a:t>3</a:t>
            </a:r>
            <a:endParaRPr lang="en-US" sz="2200" dirty="0"/>
          </a:p>
        </p:txBody>
      </p:sp>
      <p:sp>
        <p:nvSpPr>
          <p:cNvPr id="16" name="Text 13"/>
          <p:cNvSpPr txBox="1"/>
          <p:nvPr/>
        </p:nvSpPr>
        <p:spPr>
          <a:xfrm>
            <a:off x="3995928" y="1920240"/>
            <a:ext cx="1188720" cy="274320"/>
          </a:xfrm>
          <a:prstGeom prst="rect">
            <a:avLst/>
          </a:prstGeom>
          <a:noFill/>
        </p:spPr>
        <p:txBody>
          <a:bodyPr wrap="square" lIns="0" tIns="0" rIns="0" bIns="0" rtlCol="0" anchor="t"/>
          <a:lstStyle/>
          <a:p>
            <a:pPr marL="0" indent="0">
              <a:buNone/>
            </a:pPr>
            <a:r>
              <a:rPr lang="en-US" sz="1000" b="1" dirty="0">
                <a:solidFill>
                  <a:srgbClr val="7FD3E0"/>
                </a:solidFill>
                <a:latin typeface="Courier New" panose="02070309020205020404" pitchFamily="34" charset="0"/>
                <a:ea typeface="Courier New" panose="02070309020205020404" pitchFamily="34" charset="-122"/>
                <a:cs typeface="Courier New" panose="02070309020205020404" pitchFamily="34" charset="-120"/>
              </a:rPr>
              <a:t>CLASSIFY</a:t>
            </a:r>
            <a:endParaRPr lang="en-US" sz="1000" dirty="0"/>
          </a:p>
        </p:txBody>
      </p:sp>
      <p:sp>
        <p:nvSpPr>
          <p:cNvPr id="17" name="Text 14"/>
          <p:cNvSpPr txBox="1"/>
          <p:nvPr/>
        </p:nvSpPr>
        <p:spPr>
          <a:xfrm>
            <a:off x="3995928" y="2212848"/>
            <a:ext cx="1188720" cy="640080"/>
          </a:xfrm>
          <a:prstGeom prst="rect">
            <a:avLst/>
          </a:prstGeom>
          <a:noFill/>
        </p:spPr>
        <p:txBody>
          <a:bodyPr wrap="square" lIns="0" tIns="0" rIns="0" bIns="0" rtlCol="0" anchor="t"/>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TF-IDF or MiniLM + Logistic Regression</a:t>
            </a:r>
            <a:endParaRPr lang="en-US" sz="1200" dirty="0"/>
          </a:p>
        </p:txBody>
      </p:sp>
      <p:sp>
        <p:nvSpPr>
          <p:cNvPr id="18" name="Text 15"/>
          <p:cNvSpPr txBox="1"/>
          <p:nvPr/>
        </p:nvSpPr>
        <p:spPr>
          <a:xfrm>
            <a:off x="5257800" y="1828800"/>
            <a:ext cx="365760" cy="365760"/>
          </a:xfrm>
          <a:prstGeom prst="rect">
            <a:avLst/>
          </a:prstGeom>
          <a:noFill/>
        </p:spPr>
        <p:txBody>
          <a:bodyPr wrap="square" lIns="0" tIns="0" rIns="0" bIns="0" rtlCol="0" anchor="t"/>
          <a:lstStyle/>
          <a:p>
            <a:pPr marL="0" indent="0" algn="ctr">
              <a:buNone/>
            </a:pPr>
            <a:r>
              <a:rPr lang="en-US" sz="20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9" name="Shape 16"/>
          <p:cNvSpPr/>
          <p:nvPr/>
        </p:nvSpPr>
        <p:spPr>
          <a:xfrm>
            <a:off x="5623560" y="1371600"/>
            <a:ext cx="1371600" cy="1554480"/>
          </a:xfrm>
          <a:prstGeom prst="rect">
            <a:avLst/>
          </a:prstGeom>
          <a:solidFill>
            <a:srgbClr val="FFFFFF"/>
          </a:solidFill>
          <a:ln w="12700">
            <a:solidFill>
              <a:srgbClr val="12A0B5"/>
            </a:solidFill>
            <a:prstDash val="solid"/>
          </a:ln>
        </p:spPr>
      </p:sp>
      <p:sp>
        <p:nvSpPr>
          <p:cNvPr id="20" name="Text 17"/>
          <p:cNvSpPr txBox="1"/>
          <p:nvPr/>
        </p:nvSpPr>
        <p:spPr>
          <a:xfrm>
            <a:off x="5733288" y="1444752"/>
            <a:ext cx="457200" cy="411480"/>
          </a:xfrm>
          <a:prstGeom prst="rect">
            <a:avLst/>
          </a:prstGeom>
          <a:noFill/>
        </p:spPr>
        <p:txBody>
          <a:bodyPr wrap="square" lIns="0" tIns="0" rIns="0" bIns="0" rtlCol="0" anchor="t"/>
          <a:lstStyle/>
          <a:p>
            <a:pPr marL="0" indent="0">
              <a:buNone/>
            </a:pPr>
            <a:r>
              <a:rPr lang="en-US" sz="2200" b="1" dirty="0">
                <a:solidFill>
                  <a:srgbClr val="12A0B5"/>
                </a:solidFill>
                <a:latin typeface="Cambria" panose="02040503050406030204" pitchFamily="34" charset="0"/>
                <a:ea typeface="Cambria" panose="02040503050406030204" pitchFamily="34" charset="-122"/>
                <a:cs typeface="Cambria" panose="02040503050406030204" pitchFamily="34" charset="-120"/>
              </a:rPr>
              <a:t>4</a:t>
            </a:r>
            <a:endParaRPr lang="en-US" sz="2200" dirty="0"/>
          </a:p>
        </p:txBody>
      </p:sp>
      <p:sp>
        <p:nvSpPr>
          <p:cNvPr id="21" name="Text 18"/>
          <p:cNvSpPr txBox="1"/>
          <p:nvPr/>
        </p:nvSpPr>
        <p:spPr>
          <a:xfrm>
            <a:off x="5733288" y="1920240"/>
            <a:ext cx="118872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EXPLAIN</a:t>
            </a:r>
            <a:endParaRPr lang="en-US" sz="1000" dirty="0"/>
          </a:p>
        </p:txBody>
      </p:sp>
      <p:sp>
        <p:nvSpPr>
          <p:cNvPr id="22" name="Text 19"/>
          <p:cNvSpPr txBox="1"/>
          <p:nvPr/>
        </p:nvSpPr>
        <p:spPr>
          <a:xfrm>
            <a:off x="5733288" y="2212848"/>
            <a:ext cx="11887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LIME word weights</a:t>
            </a:r>
            <a:endParaRPr lang="en-US" sz="1200" dirty="0"/>
          </a:p>
        </p:txBody>
      </p:sp>
      <p:sp>
        <p:nvSpPr>
          <p:cNvPr id="23" name="Text 20"/>
          <p:cNvSpPr txBox="1"/>
          <p:nvPr/>
        </p:nvSpPr>
        <p:spPr>
          <a:xfrm>
            <a:off x="6995160" y="1828800"/>
            <a:ext cx="365760" cy="365760"/>
          </a:xfrm>
          <a:prstGeom prst="rect">
            <a:avLst/>
          </a:prstGeom>
          <a:noFill/>
        </p:spPr>
        <p:txBody>
          <a:bodyPr wrap="square" lIns="0" tIns="0" rIns="0" bIns="0" rtlCol="0" anchor="t"/>
          <a:lstStyle/>
          <a:p>
            <a:pPr marL="0" indent="0" algn="ctr">
              <a:buNone/>
            </a:pPr>
            <a:r>
              <a:rPr lang="en-US" sz="20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4" name="Shape 21"/>
          <p:cNvSpPr/>
          <p:nvPr/>
        </p:nvSpPr>
        <p:spPr>
          <a:xfrm>
            <a:off x="7360920" y="1371600"/>
            <a:ext cx="1371600" cy="1554480"/>
          </a:xfrm>
          <a:prstGeom prst="rect">
            <a:avLst/>
          </a:prstGeom>
          <a:solidFill>
            <a:srgbClr val="FFFFFF"/>
          </a:solidFill>
          <a:ln w="12700">
            <a:solidFill>
              <a:srgbClr val="12A0B5"/>
            </a:solidFill>
            <a:prstDash val="solid"/>
          </a:ln>
        </p:spPr>
      </p:sp>
      <p:sp>
        <p:nvSpPr>
          <p:cNvPr id="25" name="Text 22"/>
          <p:cNvSpPr txBox="1"/>
          <p:nvPr/>
        </p:nvSpPr>
        <p:spPr>
          <a:xfrm>
            <a:off x="7470648" y="1444752"/>
            <a:ext cx="457200" cy="411480"/>
          </a:xfrm>
          <a:prstGeom prst="rect">
            <a:avLst/>
          </a:prstGeom>
          <a:noFill/>
        </p:spPr>
        <p:txBody>
          <a:bodyPr wrap="square" lIns="0" tIns="0" rIns="0" bIns="0" rtlCol="0" anchor="t"/>
          <a:lstStyle/>
          <a:p>
            <a:pPr marL="0" indent="0">
              <a:buNone/>
            </a:pPr>
            <a:r>
              <a:rPr lang="en-US" sz="2200" b="1" dirty="0">
                <a:solidFill>
                  <a:srgbClr val="12A0B5"/>
                </a:solidFill>
                <a:latin typeface="Cambria" panose="02040503050406030204" pitchFamily="34" charset="0"/>
                <a:ea typeface="Cambria" panose="02040503050406030204" pitchFamily="34" charset="-122"/>
                <a:cs typeface="Cambria" panose="02040503050406030204" pitchFamily="34" charset="-120"/>
              </a:rPr>
              <a:t>5</a:t>
            </a:r>
            <a:endParaRPr lang="en-US" sz="2200" dirty="0"/>
          </a:p>
        </p:txBody>
      </p:sp>
      <p:sp>
        <p:nvSpPr>
          <p:cNvPr id="26" name="Text 23"/>
          <p:cNvSpPr txBox="1"/>
          <p:nvPr/>
        </p:nvSpPr>
        <p:spPr>
          <a:xfrm>
            <a:off x="7470648" y="1920240"/>
            <a:ext cx="118872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REVIEW GATE</a:t>
            </a:r>
            <a:endParaRPr lang="en-US" sz="1000" dirty="0"/>
          </a:p>
        </p:txBody>
      </p:sp>
      <p:sp>
        <p:nvSpPr>
          <p:cNvPr id="27" name="Text 24"/>
          <p:cNvSpPr txBox="1"/>
          <p:nvPr/>
        </p:nvSpPr>
        <p:spPr>
          <a:xfrm>
            <a:off x="7470648" y="2212848"/>
            <a:ext cx="11887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Confidence &lt; 0.60 → human</a:t>
            </a:r>
            <a:endParaRPr lang="en-US" sz="1200" dirty="0"/>
          </a:p>
        </p:txBody>
      </p:sp>
      <p:sp>
        <p:nvSpPr>
          <p:cNvPr id="28" name="Shape 25"/>
          <p:cNvSpPr/>
          <p:nvPr/>
        </p:nvSpPr>
        <p:spPr>
          <a:xfrm>
            <a:off x="411480" y="3246120"/>
            <a:ext cx="4023360" cy="1005840"/>
          </a:xfrm>
          <a:prstGeom prst="rect">
            <a:avLst/>
          </a:prstGeom>
          <a:solidFill>
            <a:srgbClr val="DDF1F4"/>
          </a:solidFill>
          <a:ln w="12700">
            <a:solidFill>
              <a:srgbClr val="12A0B5"/>
            </a:solidFill>
            <a:prstDash val="solid"/>
          </a:ln>
        </p:spPr>
      </p:sp>
      <p:sp>
        <p:nvSpPr>
          <p:cNvPr id="29" name="Text 26"/>
          <p:cNvSpPr txBox="1"/>
          <p:nvPr/>
        </p:nvSpPr>
        <p:spPr>
          <a:xfrm>
            <a:off x="594360" y="3337560"/>
            <a:ext cx="365760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SUPPORTING ANALYTICS</a:t>
            </a:r>
            <a:endParaRPr lang="en-US" sz="1000" dirty="0"/>
          </a:p>
        </p:txBody>
      </p:sp>
      <p:sp>
        <p:nvSpPr>
          <p:cNvPr id="30" name="Text 27"/>
          <p:cNvSpPr txBox="1"/>
          <p:nvPr/>
        </p:nvSpPr>
        <p:spPr>
          <a:xfrm>
            <a:off x="594360" y="3611880"/>
            <a:ext cx="3657600" cy="59436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Rule-based extraction of amounts, dates, products and events supported creation of the 1,200-narrative annotation set.</a:t>
            </a:r>
            <a:endParaRPr lang="en-US" sz="1200" dirty="0"/>
          </a:p>
        </p:txBody>
      </p:sp>
      <p:sp>
        <p:nvSpPr>
          <p:cNvPr id="31" name="Shape 28"/>
          <p:cNvSpPr/>
          <p:nvPr/>
        </p:nvSpPr>
        <p:spPr>
          <a:xfrm>
            <a:off x="4663440" y="3246120"/>
            <a:ext cx="4023360" cy="1005840"/>
          </a:xfrm>
          <a:prstGeom prst="rect">
            <a:avLst/>
          </a:prstGeom>
          <a:solidFill>
            <a:srgbClr val="FFFFFF"/>
          </a:solidFill>
          <a:ln w="15875">
            <a:solidFill>
              <a:srgbClr val="D9822B"/>
            </a:solidFill>
            <a:prstDash val="dash"/>
          </a:ln>
        </p:spPr>
      </p:sp>
      <p:sp>
        <p:nvSpPr>
          <p:cNvPr id="32" name="Text 29"/>
          <p:cNvSpPr txBox="1"/>
          <p:nvPr/>
        </p:nvSpPr>
        <p:spPr>
          <a:xfrm>
            <a:off x="4846320" y="3337560"/>
            <a:ext cx="3657600" cy="274320"/>
          </a:xfrm>
          <a:prstGeom prst="rect">
            <a:avLst/>
          </a:prstGeom>
          <a:noFill/>
        </p:spPr>
        <p:txBody>
          <a:bodyPr wrap="square" lIns="0" tIns="0" rIns="0" bIns="0" rtlCol="0" anchor="t"/>
          <a:lstStyle/>
          <a:p>
            <a:pPr marL="0" indent="0">
              <a:buNone/>
            </a:pPr>
            <a:r>
              <a:rPr lang="en-US" sz="1000" b="1" dirty="0">
                <a:solidFill>
                  <a:srgbClr val="D9822B"/>
                </a:solidFill>
                <a:latin typeface="Courier New" panose="02070309020205020404" pitchFamily="34" charset="0"/>
                <a:ea typeface="Courier New" panose="02070309020205020404" pitchFamily="34" charset="-122"/>
                <a:cs typeface="Courier New" panose="02070309020205020404" pitchFamily="34" charset="-120"/>
              </a:rPr>
              <a:t>ANALYST OUTPUT</a:t>
            </a:r>
            <a:endParaRPr lang="en-US" sz="1000" dirty="0"/>
          </a:p>
        </p:txBody>
      </p:sp>
      <p:sp>
        <p:nvSpPr>
          <p:cNvPr id="33" name="Text 30"/>
          <p:cNvSpPr txBox="1"/>
          <p:nvPr/>
        </p:nvSpPr>
        <p:spPr>
          <a:xfrm>
            <a:off x="4846320" y="3611880"/>
            <a:ext cx="3657600" cy="59436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Category prediction, word-level explanation and review decision are presented together for inspection.</a:t>
            </a:r>
            <a:endParaRPr lang="en-US" sz="1200" dirty="0"/>
          </a:p>
        </p:txBody>
      </p:sp>
      <p:sp>
        <p:nvSpPr>
          <p:cNvPr id="34" name="Text 31"/>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35" name="Text 32"/>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Dataset and Experimental Setup</a:t>
            </a:r>
            <a:endParaRPr lang="en-US" sz="3000" dirty="0"/>
          </a:p>
        </p:txBody>
      </p:sp>
      <p:sp>
        <p:nvSpPr>
          <p:cNvPr id="4" name="Text 1"/>
          <p:cNvSpPr txBox="1"/>
          <p:nvPr/>
        </p:nvSpPr>
        <p:spPr>
          <a:xfrm>
            <a:off x="457200" y="1234440"/>
            <a:ext cx="2194560" cy="548640"/>
          </a:xfrm>
          <a:prstGeom prst="rect">
            <a:avLst/>
          </a:prstGeom>
          <a:noFill/>
        </p:spPr>
        <p:txBody>
          <a:bodyPr wrap="square" lIns="0" tIns="0" rIns="0" bIns="0" rtlCol="0" anchor="t"/>
          <a:lstStyle/>
          <a:p>
            <a:pPr marL="0" indent="0">
              <a:buNone/>
            </a:pPr>
            <a:r>
              <a:rPr lang="en-US" sz="3600" b="1" dirty="0">
                <a:solidFill>
                  <a:srgbClr val="12A0B5"/>
                </a:solidFill>
                <a:latin typeface="Cambria" panose="02040503050406030204" pitchFamily="34" charset="0"/>
                <a:ea typeface="Cambria" panose="02040503050406030204" pitchFamily="34" charset="-122"/>
                <a:cs typeface="Cambria" panose="02040503050406030204" pitchFamily="34" charset="-120"/>
              </a:rPr>
              <a:t>10,002</a:t>
            </a:r>
            <a:endParaRPr lang="en-US" sz="3600" dirty="0"/>
          </a:p>
        </p:txBody>
      </p:sp>
      <p:sp>
        <p:nvSpPr>
          <p:cNvPr id="5" name="Text 2"/>
          <p:cNvSpPr txBox="1"/>
          <p:nvPr/>
        </p:nvSpPr>
        <p:spPr>
          <a:xfrm>
            <a:off x="457200" y="1783080"/>
            <a:ext cx="2286000" cy="365760"/>
          </a:xfrm>
          <a:prstGeom prst="rect">
            <a:avLst/>
          </a:prstGeom>
          <a:noFill/>
        </p:spPr>
        <p:txBody>
          <a:bodyPr wrap="square" lIns="0" tIns="0" rIns="0" bIns="0" rtlCol="0" anchor="t"/>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CFPB narratives</a:t>
            </a:r>
            <a:endParaRPr lang="en-US" sz="1200" dirty="0"/>
          </a:p>
        </p:txBody>
      </p:sp>
      <p:sp>
        <p:nvSpPr>
          <p:cNvPr id="6" name="Text 3"/>
          <p:cNvSpPr txBox="1"/>
          <p:nvPr/>
        </p:nvSpPr>
        <p:spPr>
          <a:xfrm>
            <a:off x="457200" y="2148840"/>
            <a:ext cx="2194560" cy="548640"/>
          </a:xfrm>
          <a:prstGeom prst="rect">
            <a:avLst/>
          </a:prstGeom>
          <a:noFill/>
        </p:spPr>
        <p:txBody>
          <a:bodyPr wrap="square" lIns="0" tIns="0" rIns="0" bIns="0" rtlCol="0" anchor="t"/>
          <a:lstStyle/>
          <a:p>
            <a:pPr marL="0" indent="0">
              <a:buNone/>
            </a:pPr>
            <a:r>
              <a:rPr lang="en-US" sz="3600" b="1" dirty="0">
                <a:solidFill>
                  <a:srgbClr val="12A0B5"/>
                </a:solidFill>
                <a:latin typeface="Cambria" panose="02040503050406030204" pitchFamily="34" charset="0"/>
                <a:ea typeface="Cambria" panose="02040503050406030204" pitchFamily="34" charset="-122"/>
                <a:cs typeface="Cambria" panose="02040503050406030204" pitchFamily="34" charset="-120"/>
              </a:rPr>
              <a:t>11</a:t>
            </a:r>
            <a:endParaRPr lang="en-US" sz="3600" dirty="0"/>
          </a:p>
        </p:txBody>
      </p:sp>
      <p:sp>
        <p:nvSpPr>
          <p:cNvPr id="7" name="Text 4"/>
          <p:cNvSpPr txBox="1"/>
          <p:nvPr/>
        </p:nvSpPr>
        <p:spPr>
          <a:xfrm>
            <a:off x="457200" y="2697480"/>
            <a:ext cx="2286000" cy="365760"/>
          </a:xfrm>
          <a:prstGeom prst="rect">
            <a:avLst/>
          </a:prstGeom>
          <a:noFill/>
        </p:spPr>
        <p:txBody>
          <a:bodyPr wrap="square" lIns="0" tIns="0" rIns="0" bIns="0" rtlCol="0" anchor="t"/>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product categories</a:t>
            </a:r>
            <a:endParaRPr lang="en-US" sz="1200" dirty="0"/>
          </a:p>
        </p:txBody>
      </p:sp>
      <p:sp>
        <p:nvSpPr>
          <p:cNvPr id="8" name="Text 5"/>
          <p:cNvSpPr txBox="1"/>
          <p:nvPr/>
        </p:nvSpPr>
        <p:spPr>
          <a:xfrm>
            <a:off x="457200" y="3063240"/>
            <a:ext cx="2194560" cy="548640"/>
          </a:xfrm>
          <a:prstGeom prst="rect">
            <a:avLst/>
          </a:prstGeom>
          <a:noFill/>
        </p:spPr>
        <p:txBody>
          <a:bodyPr wrap="square" lIns="0" tIns="0" rIns="0" bIns="0" rtlCol="0" anchor="t"/>
          <a:lstStyle/>
          <a:p>
            <a:pPr marL="0" indent="0">
              <a:buNone/>
            </a:pPr>
            <a:r>
              <a:rPr lang="en-US" sz="3600" b="1" dirty="0">
                <a:solidFill>
                  <a:srgbClr val="12A0B5"/>
                </a:solidFill>
                <a:latin typeface="Cambria" panose="02040503050406030204" pitchFamily="34" charset="0"/>
                <a:ea typeface="Cambria" panose="02040503050406030204" pitchFamily="34" charset="-122"/>
                <a:cs typeface="Cambria" panose="02040503050406030204" pitchFamily="34" charset="-120"/>
              </a:rPr>
              <a:t>7,819</a:t>
            </a:r>
            <a:endParaRPr lang="en-US" sz="3600" dirty="0"/>
          </a:p>
        </p:txBody>
      </p:sp>
      <p:sp>
        <p:nvSpPr>
          <p:cNvPr id="9" name="Text 6"/>
          <p:cNvSpPr txBox="1"/>
          <p:nvPr/>
        </p:nvSpPr>
        <p:spPr>
          <a:xfrm>
            <a:off x="457200" y="3611880"/>
            <a:ext cx="2286000" cy="365760"/>
          </a:xfrm>
          <a:prstGeom prst="rect">
            <a:avLst/>
          </a:prstGeom>
          <a:noFill/>
        </p:spPr>
        <p:txBody>
          <a:bodyPr wrap="square" lIns="0" tIns="0" rIns="0" bIns="0" rtlCol="0" anchor="t"/>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annotated spans · 1,200 narratives</a:t>
            </a:r>
            <a:endParaRPr lang="en-US" sz="1200" dirty="0"/>
          </a:p>
        </p:txBody>
      </p:sp>
      <p:graphicFrame>
        <p:nvGraphicFramePr>
          <p:cNvPr id="10" name="Chart 0"/>
          <p:cNvGraphicFramePr/>
          <p:nvPr/>
        </p:nvGraphicFramePr>
        <p:xfrm>
          <a:off x="2834640" y="1143000"/>
          <a:ext cx="5852160" cy="2651760"/>
        </p:xfrm>
        <a:graphic>
          <a:graphicData uri="http://schemas.openxmlformats.org/drawingml/2006/chart">
            <c:chart xmlns:c="http://schemas.openxmlformats.org/drawingml/2006/chart" xmlns:r="http://schemas.openxmlformats.org/officeDocument/2006/relationships" r:id="rId1"/>
          </a:graphicData>
        </a:graphic>
      </p:graphicFrame>
      <p:sp>
        <p:nvSpPr>
          <p:cNvPr id="11" name="Text 7"/>
          <p:cNvSpPr txBox="1"/>
          <p:nvPr/>
        </p:nvSpPr>
        <p:spPr>
          <a:xfrm>
            <a:off x="2834640" y="3840480"/>
            <a:ext cx="5852160" cy="274320"/>
          </a:xfrm>
          <a:prstGeom prst="rect">
            <a:avLst/>
          </a:prstGeom>
          <a:noFill/>
        </p:spPr>
        <p:txBody>
          <a:bodyPr wrap="square" lIns="0" tIns="0" rIns="0" bIns="0" rtlCol="0" anchor="t"/>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Original text kept · post-complaint fields excluded · 80/20 split (8,001 / 2,001)</a:t>
            </a:r>
            <a:endParaRPr lang="en-US" sz="1200" dirty="0"/>
          </a:p>
        </p:txBody>
      </p:sp>
      <p:sp>
        <p:nvSpPr>
          <p:cNvPr id="12" name="Text 8"/>
          <p:cNvSpPr txBox="1"/>
          <p:nvPr/>
        </p:nvSpPr>
        <p:spPr>
          <a:xfrm>
            <a:off x="457200" y="4251960"/>
            <a:ext cx="8229600" cy="457200"/>
          </a:xfrm>
          <a:prstGeom prst="rect">
            <a:avLst/>
          </a:prstGeom>
          <a:noFill/>
        </p:spPr>
        <p:txBody>
          <a:bodyPr wrap="square" lIns="0" tIns="0" rIns="0" bIns="0" rtlCol="0" anchor="t"/>
          <a:lstStyle/>
          <a:p>
            <a:pPr marL="0" indent="0">
              <a:buNone/>
            </a:pPr>
            <a:r>
              <a:rPr lang="en-US" sz="1100" i="1" dirty="0">
                <a:solidFill>
                  <a:srgbClr val="5F6B7A"/>
                </a:solidFill>
                <a:latin typeface="Calibri" panose="020F0502020204030204" pitchFamily="34" charset="0"/>
                <a:ea typeface="Calibri" panose="020F0502020204030204" pitchFamily="34" charset="-122"/>
                <a:cs typeface="Calibri" panose="020F0502020204030204" pitchFamily="34" charset="-120"/>
              </a:rPr>
              <a:t>Methodology: labels are provisional and annotations are AI-reviewed. Duplicate narratives were flagged but not grouped during the split.</a:t>
            </a:r>
            <a:endParaRPr lang="en-US" sz="1100" dirty="0"/>
          </a:p>
        </p:txBody>
      </p:sp>
      <p:sp>
        <p:nvSpPr>
          <p:cNvPr id="13" name="Text 9"/>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14" name="Text 10"/>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Two ways to represent a complaint</a:t>
            </a:r>
            <a:endParaRPr lang="en-US" sz="3000" dirty="0"/>
          </a:p>
        </p:txBody>
      </p:sp>
      <p:sp>
        <p:nvSpPr>
          <p:cNvPr id="4" name="Shape 1"/>
          <p:cNvSpPr/>
          <p:nvPr/>
        </p:nvSpPr>
        <p:spPr>
          <a:xfrm>
            <a:off x="457200" y="1280160"/>
            <a:ext cx="4023360" cy="2286000"/>
          </a:xfrm>
          <a:prstGeom prst="rect">
            <a:avLst/>
          </a:prstGeom>
          <a:solidFill>
            <a:srgbClr val="0B1E3F"/>
          </a:solidFill>
          <a:ln w="12700">
            <a:solidFill>
              <a:srgbClr val="12A0B5"/>
            </a:solidFill>
            <a:prstDash val="solid"/>
          </a:ln>
        </p:spPr>
      </p:sp>
      <p:sp>
        <p:nvSpPr>
          <p:cNvPr id="5" name="Text 2"/>
          <p:cNvSpPr txBox="1"/>
          <p:nvPr/>
        </p:nvSpPr>
        <p:spPr>
          <a:xfrm>
            <a:off x="731520" y="1463040"/>
            <a:ext cx="3474720" cy="548640"/>
          </a:xfrm>
          <a:prstGeom prst="rect">
            <a:avLst/>
          </a:prstGeom>
          <a:noFill/>
        </p:spPr>
        <p:txBody>
          <a:bodyPr wrap="square" lIns="0" tIns="0" rIns="0" bIns="0" rtlCol="0" anchor="t"/>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TF-IDF</a:t>
            </a:r>
            <a:endParaRPr lang="en-US" sz="3000" dirty="0"/>
          </a:p>
        </p:txBody>
      </p:sp>
      <p:sp>
        <p:nvSpPr>
          <p:cNvPr id="6" name="Text 3"/>
          <p:cNvSpPr txBox="1"/>
          <p:nvPr/>
        </p:nvSpPr>
        <p:spPr>
          <a:xfrm>
            <a:off x="731520" y="2103120"/>
            <a:ext cx="3474720" cy="365760"/>
          </a:xfrm>
          <a:prstGeom prst="rect">
            <a:avLst/>
          </a:prstGeom>
          <a:noFill/>
        </p:spPr>
        <p:txBody>
          <a:bodyPr wrap="square" lIns="0" tIns="0" rIns="0" bIns="0" rtlCol="0" anchor="t"/>
          <a:lstStyle/>
          <a:p>
            <a:pPr marL="0" indent="0">
              <a:buNone/>
            </a:pPr>
            <a:r>
              <a:rPr lang="en-US" sz="1600" b="1" dirty="0">
                <a:solidFill>
                  <a:srgbClr val="7FD3E0"/>
                </a:solidFill>
                <a:latin typeface="Calibri" panose="020F0502020204030204" pitchFamily="34" charset="0"/>
                <a:ea typeface="Calibri" panose="020F0502020204030204" pitchFamily="34" charset="-122"/>
                <a:cs typeface="Calibri" panose="020F0502020204030204" pitchFamily="34" charset="-120"/>
              </a:rPr>
              <a:t>Word and phrase weights</a:t>
            </a:r>
            <a:endParaRPr lang="en-US" sz="1600" dirty="0"/>
          </a:p>
        </p:txBody>
      </p:sp>
      <p:sp>
        <p:nvSpPr>
          <p:cNvPr id="7" name="Text 4"/>
          <p:cNvSpPr txBox="1"/>
          <p:nvPr/>
        </p:nvSpPr>
        <p:spPr>
          <a:xfrm>
            <a:off x="731520" y="2651760"/>
            <a:ext cx="3474720" cy="731520"/>
          </a:xfrm>
          <a:prstGeom prst="rect">
            <a:avLst/>
          </a:prstGeom>
          <a:noFill/>
        </p:spPr>
        <p:txBody>
          <a:bodyPr wrap="square" lIns="0" tIns="0" rIns="0" bIns="0" rtlCol="0" anchor="t"/>
          <a:lstStyle/>
          <a:p>
            <a:pPr marL="0" indent="0">
              <a:buNone/>
            </a:pPr>
            <a:r>
              <a:rPr lang="en-US" sz="1100" dirty="0">
                <a:solidFill>
                  <a:srgbClr val="AEBBD0"/>
                </a:solidFill>
                <a:latin typeface="Courier New" panose="02070309020205020404" pitchFamily="34" charset="0"/>
                <a:ea typeface="Courier New" panose="02070309020205020404" pitchFamily="34" charset="-122"/>
                <a:cs typeface="Courier New" panose="02070309020205020404" pitchFamily="34" charset="-120"/>
              </a:rPr>
              <a:t>1–2-grams · 10,000 features · fast and transparent</a:t>
            </a:r>
            <a:endParaRPr lang="en-US" sz="1100" dirty="0"/>
          </a:p>
        </p:txBody>
      </p:sp>
      <p:sp>
        <p:nvSpPr>
          <p:cNvPr id="8" name="Shape 5"/>
          <p:cNvSpPr/>
          <p:nvPr/>
        </p:nvSpPr>
        <p:spPr>
          <a:xfrm>
            <a:off x="4663440" y="1280160"/>
            <a:ext cx="4023360" cy="2286000"/>
          </a:xfrm>
          <a:prstGeom prst="rect">
            <a:avLst/>
          </a:prstGeom>
          <a:solidFill>
            <a:srgbClr val="DDF1F4"/>
          </a:solidFill>
          <a:ln w="12700">
            <a:solidFill>
              <a:srgbClr val="12A0B5"/>
            </a:solidFill>
            <a:prstDash val="solid"/>
          </a:ln>
        </p:spPr>
      </p:sp>
      <p:sp>
        <p:nvSpPr>
          <p:cNvPr id="9" name="Text 6"/>
          <p:cNvSpPr txBox="1"/>
          <p:nvPr/>
        </p:nvSpPr>
        <p:spPr>
          <a:xfrm>
            <a:off x="4937760" y="1463040"/>
            <a:ext cx="3474720" cy="54864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MiniLM</a:t>
            </a:r>
            <a:endParaRPr lang="en-US" sz="3000" dirty="0"/>
          </a:p>
        </p:txBody>
      </p:sp>
      <p:sp>
        <p:nvSpPr>
          <p:cNvPr id="10" name="Text 7"/>
          <p:cNvSpPr txBox="1"/>
          <p:nvPr/>
        </p:nvSpPr>
        <p:spPr>
          <a:xfrm>
            <a:off x="4937760" y="2103120"/>
            <a:ext cx="3474720" cy="365760"/>
          </a:xfrm>
          <a:prstGeom prst="rect">
            <a:avLst/>
          </a:prstGeom>
          <a:noFill/>
        </p:spPr>
        <p:txBody>
          <a:bodyPr wrap="square" lIns="0" tIns="0" rIns="0" bIns="0" rtlCol="0" anchor="t"/>
          <a:lstStyle/>
          <a:p>
            <a:pPr marL="0" indent="0">
              <a:buNone/>
            </a:pPr>
            <a:r>
              <a:rPr lang="en-US" sz="1600" b="1" dirty="0">
                <a:solidFill>
                  <a:srgbClr val="12A0B5"/>
                </a:solidFill>
                <a:latin typeface="Calibri" panose="020F0502020204030204" pitchFamily="34" charset="0"/>
                <a:ea typeface="Calibri" panose="020F0502020204030204" pitchFamily="34" charset="-122"/>
                <a:cs typeface="Calibri" panose="020F0502020204030204" pitchFamily="34" charset="-120"/>
              </a:rPr>
              <a:t>Sentence meaning as a vector</a:t>
            </a:r>
            <a:endParaRPr lang="en-US" sz="1600" dirty="0"/>
          </a:p>
        </p:txBody>
      </p:sp>
      <p:sp>
        <p:nvSpPr>
          <p:cNvPr id="11" name="Text 8"/>
          <p:cNvSpPr txBox="1"/>
          <p:nvPr/>
        </p:nvSpPr>
        <p:spPr>
          <a:xfrm>
            <a:off x="4937760" y="2651760"/>
            <a:ext cx="3474720" cy="731520"/>
          </a:xfrm>
          <a:prstGeom prst="rect">
            <a:avLst/>
          </a:prstGeom>
          <a:noFill/>
        </p:spPr>
        <p:txBody>
          <a:bodyPr wrap="square" lIns="0" tIns="0" rIns="0" bIns="0" rtlCol="0" anchor="t"/>
          <a:lstStyle/>
          <a:p>
            <a:pPr marL="0" indent="0">
              <a:buNone/>
            </a:pPr>
            <a:r>
              <a:rPr lang="en-US" sz="11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all-MiniLM-L6-v2 · pretrained · no fine-tuning</a:t>
            </a:r>
            <a:endParaRPr lang="en-US" sz="1100" dirty="0"/>
          </a:p>
        </p:txBody>
      </p:sp>
      <p:sp>
        <p:nvSpPr>
          <p:cNvPr id="12" name="Shape 9"/>
          <p:cNvSpPr/>
          <p:nvPr/>
        </p:nvSpPr>
        <p:spPr>
          <a:xfrm>
            <a:off x="457200" y="3794760"/>
            <a:ext cx="8229600" cy="548640"/>
          </a:xfrm>
          <a:prstGeom prst="rect">
            <a:avLst/>
          </a:prstGeom>
          <a:solidFill>
            <a:srgbClr val="FFFFFF"/>
          </a:solidFill>
          <a:ln w="12700">
            <a:solidFill>
              <a:srgbClr val="D8DDE3"/>
            </a:solidFill>
            <a:prstDash val="solid"/>
          </a:ln>
        </p:spPr>
      </p:sp>
      <p:sp>
        <p:nvSpPr>
          <p:cNvPr id="13" name="Text 10"/>
          <p:cNvSpPr txBox="1"/>
          <p:nvPr/>
        </p:nvSpPr>
        <p:spPr>
          <a:xfrm>
            <a:off x="640080" y="3794760"/>
            <a:ext cx="7863840" cy="548640"/>
          </a:xfrm>
          <a:prstGeom prst="rect">
            <a:avLst/>
          </a:prstGeom>
          <a:noFill/>
        </p:spPr>
        <p:txBody>
          <a:bodyPr wrap="square" lIns="0" tIns="0" rIns="0" bIns="0" rtlCol="0" anchor="ctr"/>
          <a:lstStyle/>
          <a:p>
            <a:pPr marL="0" indent="0">
              <a:buNone/>
            </a:pPr>
            <a:r>
              <a:rPr lang="en-US" sz="1400" dirty="0">
                <a:solidFill>
                  <a:srgbClr val="0B1E3F"/>
                </a:solidFill>
                <a:latin typeface="Calibri" panose="020F0502020204030204" pitchFamily="34" charset="0"/>
                <a:ea typeface="Calibri" panose="020F0502020204030204" pitchFamily="34" charset="-122"/>
                <a:cs typeface="Calibri" panose="020F0502020204030204" pitchFamily="34" charset="-120"/>
              </a:rPr>
              <a:t>Same classifier (Logistic Regression) · same split · same 10 categories → a controlled comparison</a:t>
            </a:r>
            <a:endParaRPr lang="en-US" sz="1400" dirty="0"/>
          </a:p>
        </p:txBody>
      </p:sp>
      <p:sp>
        <p:nvSpPr>
          <p:cNvPr id="14" name="Text 11"/>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15" name="Text 12"/>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Similar Models, Different Category Results</a:t>
            </a:r>
            <a:endParaRPr lang="en-US" sz="3000" dirty="0"/>
          </a:p>
        </p:txBody>
      </p:sp>
      <p:graphicFrame>
        <p:nvGraphicFramePr>
          <p:cNvPr id="4" name="Chart 0"/>
          <p:cNvGraphicFramePr/>
          <p:nvPr/>
        </p:nvGraphicFramePr>
        <p:xfrm>
          <a:off x="457200" y="1188720"/>
          <a:ext cx="4572000" cy="3291840"/>
        </p:xfrm>
        <a:graphic>
          <a:graphicData uri="http://schemas.openxmlformats.org/drawingml/2006/chart">
            <c:chart xmlns:c="http://schemas.openxmlformats.org/drawingml/2006/chart" xmlns:r="http://schemas.openxmlformats.org/officeDocument/2006/relationships" r:id="rId1"/>
          </a:graphicData>
        </a:graphic>
      </p:graphicFrame>
      <p:sp>
        <p:nvSpPr>
          <p:cNvPr id="5" name="Text 1"/>
          <p:cNvSpPr txBox="1"/>
          <p:nvPr/>
        </p:nvSpPr>
        <p:spPr>
          <a:xfrm>
            <a:off x="5394960" y="1188720"/>
            <a:ext cx="3291840" cy="320040"/>
          </a:xfrm>
          <a:prstGeom prst="rect">
            <a:avLst/>
          </a:prstGeom>
          <a:noFill/>
        </p:spPr>
        <p:txBody>
          <a:bodyPr wrap="square" lIns="0" tIns="0" rIns="0" bIns="0" rtlCol="0" anchor="t"/>
          <a:lstStyle/>
          <a:p>
            <a:pPr marL="0" indent="0">
              <a:buNone/>
            </a:pPr>
            <a:r>
              <a:rPr lang="en-US" sz="1700" b="1" dirty="0">
                <a:solidFill>
                  <a:srgbClr val="D9822B"/>
                </a:solidFill>
                <a:latin typeface="Cambria" panose="02040503050406030204" pitchFamily="34" charset="0"/>
                <a:ea typeface="Cambria" panose="02040503050406030204" pitchFamily="34" charset="-122"/>
                <a:cs typeface="Cambria" panose="02040503050406030204" pitchFamily="34" charset="-120"/>
              </a:rPr>
              <a:t>Majority-class baseline: 0.597</a:t>
            </a:r>
            <a:endParaRPr lang="en-US" sz="1700" dirty="0"/>
          </a:p>
        </p:txBody>
      </p:sp>
      <p:sp>
        <p:nvSpPr>
          <p:cNvPr id="6" name="Text 2"/>
          <p:cNvSpPr txBox="1"/>
          <p:nvPr/>
        </p:nvSpPr>
        <p:spPr>
          <a:xfrm>
            <a:off x="5394960" y="1536192"/>
            <a:ext cx="3291840" cy="548640"/>
          </a:xfrm>
          <a:prstGeom prst="rect">
            <a:avLst/>
          </a:prstGeom>
          <a:noFill/>
        </p:spPr>
        <p:txBody>
          <a:bodyPr wrap="square" lIns="0" tIns="0" rIns="0" bIns="0" rtlCol="0" anchor="t"/>
          <a:lstStyle/>
          <a:p>
            <a:pPr marL="0" indent="0">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The baseline always predicts the largest class. Macro-F1 gives equal weight to all 10 categories.</a:t>
            </a:r>
            <a:endParaRPr lang="en-US" sz="1100" dirty="0"/>
          </a:p>
        </p:txBody>
      </p:sp>
      <p:sp>
        <p:nvSpPr>
          <p:cNvPr id="7" name="Text 3"/>
          <p:cNvSpPr txBox="1"/>
          <p:nvPr/>
        </p:nvSpPr>
        <p:spPr>
          <a:xfrm>
            <a:off x="5394960" y="2194560"/>
            <a:ext cx="329184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STRONGEST CLASSES (F1, TF-IDF / MiniLM)</a:t>
            </a:r>
            <a:endParaRPr lang="en-US" sz="1000" dirty="0"/>
          </a:p>
        </p:txBody>
      </p:sp>
      <p:sp>
        <p:nvSpPr>
          <p:cNvPr id="8" name="Shape 4"/>
          <p:cNvSpPr/>
          <p:nvPr/>
        </p:nvSpPr>
        <p:spPr>
          <a:xfrm>
            <a:off x="5394960" y="2514600"/>
            <a:ext cx="3291840" cy="347472"/>
          </a:xfrm>
          <a:prstGeom prst="rect">
            <a:avLst/>
          </a:prstGeom>
          <a:solidFill>
            <a:srgbClr val="FFFFFF"/>
          </a:solidFill>
          <a:ln w="12700">
            <a:solidFill>
              <a:srgbClr val="D8DDE3"/>
            </a:solidFill>
            <a:prstDash val="solid"/>
          </a:ln>
        </p:spPr>
      </p:sp>
      <p:sp>
        <p:nvSpPr>
          <p:cNvPr id="9" name="Text 5"/>
          <p:cNvSpPr txBox="1"/>
          <p:nvPr/>
        </p:nvSpPr>
        <p:spPr>
          <a:xfrm>
            <a:off x="5532120" y="2514600"/>
            <a:ext cx="1828800" cy="347472"/>
          </a:xfrm>
          <a:prstGeom prst="rect">
            <a:avLst/>
          </a:prstGeom>
          <a:noFill/>
        </p:spPr>
        <p:txBody>
          <a:bodyPr wrap="square" lIns="0" tIns="0" rIns="0" bIns="0" rtlCol="0" anchor="ctr"/>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Catch-all (1,195)</a:t>
            </a:r>
            <a:endParaRPr lang="en-US" sz="1200" dirty="0"/>
          </a:p>
        </p:txBody>
      </p:sp>
      <p:sp>
        <p:nvSpPr>
          <p:cNvPr id="10" name="Text 6"/>
          <p:cNvSpPr txBox="1"/>
          <p:nvPr/>
        </p:nvSpPr>
        <p:spPr>
          <a:xfrm>
            <a:off x="7223760" y="2514600"/>
            <a:ext cx="1371600" cy="347472"/>
          </a:xfrm>
          <a:prstGeom prst="rect">
            <a:avLst/>
          </a:prstGeom>
          <a:noFill/>
        </p:spPr>
        <p:txBody>
          <a:bodyPr wrap="square" lIns="0" tIns="0" rIns="0" bIns="0" rtlCol="0" anchor="ctr"/>
          <a:lstStyle/>
          <a:p>
            <a:pPr marL="0" indent="0" algn="r">
              <a:buNone/>
            </a:pPr>
            <a:r>
              <a:rPr lang="en-US" sz="12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0.81 / 0.81</a:t>
            </a:r>
            <a:endParaRPr lang="en-US" sz="1200" dirty="0"/>
          </a:p>
        </p:txBody>
      </p:sp>
      <p:sp>
        <p:nvSpPr>
          <p:cNvPr id="11" name="Shape 7"/>
          <p:cNvSpPr/>
          <p:nvPr/>
        </p:nvSpPr>
        <p:spPr>
          <a:xfrm>
            <a:off x="5394960" y="2926080"/>
            <a:ext cx="3291840" cy="347472"/>
          </a:xfrm>
          <a:prstGeom prst="rect">
            <a:avLst/>
          </a:prstGeom>
          <a:solidFill>
            <a:srgbClr val="FFFFFF"/>
          </a:solidFill>
          <a:ln w="12700">
            <a:solidFill>
              <a:srgbClr val="D8DDE3"/>
            </a:solidFill>
            <a:prstDash val="solid"/>
          </a:ln>
        </p:spPr>
      </p:sp>
      <p:sp>
        <p:nvSpPr>
          <p:cNvPr id="12" name="Text 8"/>
          <p:cNvSpPr txBox="1"/>
          <p:nvPr/>
        </p:nvSpPr>
        <p:spPr>
          <a:xfrm>
            <a:off x="5532120" y="2926080"/>
            <a:ext cx="1828800" cy="347472"/>
          </a:xfrm>
          <a:prstGeom prst="rect">
            <a:avLst/>
          </a:prstGeom>
          <a:noFill/>
        </p:spPr>
        <p:txBody>
          <a:bodyPr wrap="square" lIns="0" tIns="0" rIns="0" bIns="0" rtlCol="0" anchor="ctr"/>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Identity theft (69)</a:t>
            </a:r>
            <a:endParaRPr lang="en-US" sz="1200" dirty="0"/>
          </a:p>
        </p:txBody>
      </p:sp>
      <p:sp>
        <p:nvSpPr>
          <p:cNvPr id="13" name="Text 9"/>
          <p:cNvSpPr txBox="1"/>
          <p:nvPr/>
        </p:nvSpPr>
        <p:spPr>
          <a:xfrm>
            <a:off x="7223760" y="2926080"/>
            <a:ext cx="1371600" cy="347472"/>
          </a:xfrm>
          <a:prstGeom prst="rect">
            <a:avLst/>
          </a:prstGeom>
          <a:noFill/>
        </p:spPr>
        <p:txBody>
          <a:bodyPr wrap="square" lIns="0" tIns="0" rIns="0" bIns="0" rtlCol="0" anchor="ctr"/>
          <a:lstStyle/>
          <a:p>
            <a:pPr marL="0" indent="0" algn="r">
              <a:buNone/>
            </a:pPr>
            <a:r>
              <a:rPr lang="en-US" sz="12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0.59 / 0.58</a:t>
            </a:r>
            <a:endParaRPr lang="en-US" sz="1200" dirty="0"/>
          </a:p>
        </p:txBody>
      </p:sp>
      <p:sp>
        <p:nvSpPr>
          <p:cNvPr id="14" name="Shape 10"/>
          <p:cNvSpPr/>
          <p:nvPr/>
        </p:nvSpPr>
        <p:spPr>
          <a:xfrm>
            <a:off x="5394960" y="3337560"/>
            <a:ext cx="3291840" cy="347472"/>
          </a:xfrm>
          <a:prstGeom prst="rect">
            <a:avLst/>
          </a:prstGeom>
          <a:solidFill>
            <a:srgbClr val="FFFFFF"/>
          </a:solidFill>
          <a:ln w="12700">
            <a:solidFill>
              <a:srgbClr val="D8DDE3"/>
            </a:solidFill>
            <a:prstDash val="solid"/>
          </a:ln>
        </p:spPr>
      </p:sp>
      <p:sp>
        <p:nvSpPr>
          <p:cNvPr id="15" name="Text 11"/>
          <p:cNvSpPr txBox="1"/>
          <p:nvPr/>
        </p:nvSpPr>
        <p:spPr>
          <a:xfrm>
            <a:off x="5532120" y="3337560"/>
            <a:ext cx="1828800" cy="347472"/>
          </a:xfrm>
          <a:prstGeom prst="rect">
            <a:avLst/>
          </a:prstGeom>
          <a:noFill/>
        </p:spPr>
        <p:txBody>
          <a:bodyPr wrap="square" lIns="0" tIns="0" rIns="0" bIns="0" rtlCol="0" anchor="ctr"/>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Debt collection (185)</a:t>
            </a:r>
            <a:endParaRPr lang="en-US" sz="1200" dirty="0"/>
          </a:p>
        </p:txBody>
      </p:sp>
      <p:sp>
        <p:nvSpPr>
          <p:cNvPr id="16" name="Text 12"/>
          <p:cNvSpPr txBox="1"/>
          <p:nvPr/>
        </p:nvSpPr>
        <p:spPr>
          <a:xfrm>
            <a:off x="7223760" y="3337560"/>
            <a:ext cx="1371600" cy="347472"/>
          </a:xfrm>
          <a:prstGeom prst="rect">
            <a:avLst/>
          </a:prstGeom>
          <a:noFill/>
        </p:spPr>
        <p:txBody>
          <a:bodyPr wrap="square" lIns="0" tIns="0" rIns="0" bIns="0" rtlCol="0" anchor="ctr"/>
          <a:lstStyle/>
          <a:p>
            <a:pPr marL="0" indent="0" algn="r">
              <a:buNone/>
            </a:pPr>
            <a:r>
              <a:rPr lang="en-US" sz="12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0.56 / 0.55</a:t>
            </a:r>
            <a:endParaRPr lang="en-US" sz="1200" dirty="0"/>
          </a:p>
        </p:txBody>
      </p:sp>
      <p:sp>
        <p:nvSpPr>
          <p:cNvPr id="17" name="Shape 13"/>
          <p:cNvSpPr/>
          <p:nvPr/>
        </p:nvSpPr>
        <p:spPr>
          <a:xfrm>
            <a:off x="5394960" y="3749040"/>
            <a:ext cx="3291840" cy="347472"/>
          </a:xfrm>
          <a:prstGeom prst="rect">
            <a:avLst/>
          </a:prstGeom>
          <a:solidFill>
            <a:srgbClr val="FFFFFF"/>
          </a:solidFill>
          <a:ln w="12700">
            <a:solidFill>
              <a:srgbClr val="D8DDE3"/>
            </a:solidFill>
            <a:prstDash val="solid"/>
          </a:ln>
        </p:spPr>
      </p:sp>
      <p:sp>
        <p:nvSpPr>
          <p:cNvPr id="18" name="Text 14"/>
          <p:cNvSpPr txBox="1"/>
          <p:nvPr/>
        </p:nvSpPr>
        <p:spPr>
          <a:xfrm>
            <a:off x="5532120" y="3749040"/>
            <a:ext cx="1828800" cy="347472"/>
          </a:xfrm>
          <a:prstGeom prst="rect">
            <a:avLst/>
          </a:prstGeom>
          <a:noFill/>
        </p:spPr>
        <p:txBody>
          <a:bodyPr wrap="square" lIns="0" tIns="0" rIns="0" bIns="0" rtlCol="0" anchor="ctr"/>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Fee / charge (123)</a:t>
            </a:r>
            <a:endParaRPr lang="en-US" sz="1200" dirty="0"/>
          </a:p>
        </p:txBody>
      </p:sp>
      <p:sp>
        <p:nvSpPr>
          <p:cNvPr id="19" name="Text 15"/>
          <p:cNvSpPr txBox="1"/>
          <p:nvPr/>
        </p:nvSpPr>
        <p:spPr>
          <a:xfrm>
            <a:off x="7223760" y="3749040"/>
            <a:ext cx="1371600" cy="347472"/>
          </a:xfrm>
          <a:prstGeom prst="rect">
            <a:avLst/>
          </a:prstGeom>
          <a:noFill/>
        </p:spPr>
        <p:txBody>
          <a:bodyPr wrap="square" lIns="0" tIns="0" rIns="0" bIns="0" rtlCol="0" anchor="ctr"/>
          <a:lstStyle/>
          <a:p>
            <a:pPr marL="0" indent="0" algn="r">
              <a:buNone/>
            </a:pPr>
            <a:r>
              <a:rPr lang="en-US" sz="12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0.47 / 0.50</a:t>
            </a:r>
            <a:endParaRPr lang="en-US" sz="1200" dirty="0"/>
          </a:p>
        </p:txBody>
      </p:sp>
      <p:sp>
        <p:nvSpPr>
          <p:cNvPr id="20" name="Text 16"/>
          <p:cNvSpPr txBox="1"/>
          <p:nvPr/>
        </p:nvSpPr>
        <p:spPr>
          <a:xfrm>
            <a:off x="5394960" y="4206240"/>
            <a:ext cx="3291840" cy="274320"/>
          </a:xfrm>
          <a:prstGeom prst="rect">
            <a:avLst/>
          </a:prstGeom>
          <a:noFill/>
        </p:spPr>
        <p:txBody>
          <a:bodyPr wrap="square" lIns="0" tIns="0" rIns="0" bIns="0" rtlCol="0" anchor="t"/>
          <a:lstStyle/>
          <a:p>
            <a:pPr marL="0" indent="0">
              <a:buNone/>
            </a:pPr>
            <a:r>
              <a:rPr lang="en-US" sz="1100" dirty="0">
                <a:solidFill>
                  <a:srgbClr val="5F6B7A"/>
                </a:solidFill>
                <a:latin typeface="Calibri" panose="020F0502020204030204" pitchFamily="34" charset="0"/>
                <a:ea typeface="Calibri" panose="020F0502020204030204" pitchFamily="34" charset="-122"/>
                <a:cs typeface="Calibri" panose="020F0502020204030204" pitchFamily="34" charset="-120"/>
              </a:rPr>
              <a:t>n = 2,001 · one split (seed 42)</a:t>
            </a:r>
            <a:endParaRPr lang="en-US" sz="1100" dirty="0"/>
          </a:p>
        </p:txBody>
      </p:sp>
      <p:sp>
        <p:nvSpPr>
          <p:cNvPr id="21" name="Text 17"/>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22" name="Text 18"/>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Explainability: see what drove the prediction</a:t>
            </a:r>
            <a:endParaRPr lang="en-US" sz="3000" dirty="0"/>
          </a:p>
        </p:txBody>
      </p:sp>
      <p:sp>
        <p:nvSpPr>
          <p:cNvPr id="4" name="Text 1"/>
          <p:cNvSpPr txBox="1"/>
          <p:nvPr/>
        </p:nvSpPr>
        <p:spPr>
          <a:xfrm>
            <a:off x="457200" y="1188720"/>
            <a:ext cx="8229600" cy="365760"/>
          </a:xfrm>
          <a:prstGeom prst="rect">
            <a:avLst/>
          </a:prstGeom>
          <a:noFill/>
        </p:spPr>
        <p:txBody>
          <a:bodyPr wrap="square" lIns="0" tIns="0" rIns="0" bIns="0" rtlCol="0" anchor="t"/>
          <a:lstStyle/>
          <a:p>
            <a:pPr marL="0" indent="0">
              <a:buNone/>
            </a:pPr>
            <a:r>
              <a:rPr lang="en-US" sz="1800" i="1" dirty="0">
                <a:solidFill>
                  <a:srgbClr val="5F6B7A"/>
                </a:solidFill>
                <a:latin typeface="Cambria" panose="02040503050406030204" pitchFamily="34" charset="0"/>
                <a:ea typeface="Cambria" panose="02040503050406030204" pitchFamily="34" charset="-122"/>
                <a:cs typeface="Cambria" panose="02040503050406030204" pitchFamily="34" charset="-120"/>
              </a:rPr>
              <a:t>"Money was deducted but receiver did not get it"</a:t>
            </a:r>
            <a:endParaRPr lang="en-US" sz="1800" dirty="0"/>
          </a:p>
        </p:txBody>
      </p:sp>
      <p:sp>
        <p:nvSpPr>
          <p:cNvPr id="5" name="Text 2"/>
          <p:cNvSpPr txBox="1"/>
          <p:nvPr/>
        </p:nvSpPr>
        <p:spPr>
          <a:xfrm>
            <a:off x="457200" y="2011680"/>
            <a:ext cx="1280160" cy="457200"/>
          </a:xfrm>
          <a:prstGeom prst="rect">
            <a:avLst/>
          </a:prstGeom>
          <a:noFill/>
        </p:spPr>
        <p:txBody>
          <a:bodyPr wrap="square" lIns="0" tIns="0" rIns="0" bIns="0" rtlCol="0" anchor="ctr"/>
          <a:lstStyle/>
          <a:p>
            <a:pPr marL="0" indent="0">
              <a:buNone/>
            </a:pPr>
            <a:r>
              <a:rPr lang="en-US" sz="1500" b="1" dirty="0">
                <a:solidFill>
                  <a:srgbClr val="0B1E3F"/>
                </a:solidFill>
                <a:latin typeface="Courier New" panose="02070309020205020404" pitchFamily="34" charset="0"/>
                <a:ea typeface="Courier New" panose="02070309020205020404" pitchFamily="34" charset="-122"/>
                <a:cs typeface="Courier New" panose="02070309020205020404" pitchFamily="34" charset="-120"/>
              </a:rPr>
              <a:t>deducted</a:t>
            </a:r>
            <a:endParaRPr lang="en-US" sz="1500" dirty="0"/>
          </a:p>
        </p:txBody>
      </p:sp>
      <p:sp>
        <p:nvSpPr>
          <p:cNvPr id="6" name="Shape 3"/>
          <p:cNvSpPr/>
          <p:nvPr/>
        </p:nvSpPr>
        <p:spPr>
          <a:xfrm>
            <a:off x="1828800" y="2011680"/>
            <a:ext cx="3383280" cy="457200"/>
          </a:xfrm>
          <a:prstGeom prst="rect">
            <a:avLst/>
          </a:prstGeom>
          <a:solidFill>
            <a:srgbClr val="D9822B"/>
          </a:solidFill>
          <a:ln w="12700">
            <a:solidFill>
              <a:srgbClr val="D9822B"/>
            </a:solidFill>
            <a:prstDash val="solid"/>
          </a:ln>
        </p:spPr>
      </p:sp>
      <p:sp>
        <p:nvSpPr>
          <p:cNvPr id="7" name="Text 4"/>
          <p:cNvSpPr txBox="1"/>
          <p:nvPr/>
        </p:nvSpPr>
        <p:spPr>
          <a:xfrm>
            <a:off x="5303520" y="2011680"/>
            <a:ext cx="822960" cy="457200"/>
          </a:xfrm>
          <a:prstGeom prst="rect">
            <a:avLst/>
          </a:prstGeom>
          <a:noFill/>
        </p:spPr>
        <p:txBody>
          <a:bodyPr wrap="square" lIns="0" tIns="0" rIns="0" bIns="0" rtlCol="0" anchor="ctr"/>
          <a:lstStyle/>
          <a:p>
            <a:pPr marL="0" indent="0">
              <a:buNone/>
            </a:pPr>
            <a:r>
              <a:rPr lang="en-US" sz="1500" b="1" dirty="0">
                <a:solidFill>
                  <a:srgbClr val="D9822B"/>
                </a:solidFill>
                <a:latin typeface="Courier New" panose="02070309020205020404" pitchFamily="34" charset="0"/>
                <a:ea typeface="Courier New" panose="02070309020205020404" pitchFamily="34" charset="-122"/>
                <a:cs typeface="Courier New" panose="02070309020205020404" pitchFamily="34" charset="-120"/>
              </a:rPr>
              <a:t>−0.35</a:t>
            </a:r>
            <a:endParaRPr lang="en-US" sz="1500" dirty="0"/>
          </a:p>
        </p:txBody>
      </p:sp>
      <p:sp>
        <p:nvSpPr>
          <p:cNvPr id="8" name="Text 5"/>
          <p:cNvSpPr txBox="1"/>
          <p:nvPr/>
        </p:nvSpPr>
        <p:spPr>
          <a:xfrm>
            <a:off x="457200" y="2743200"/>
            <a:ext cx="1371600" cy="457200"/>
          </a:xfrm>
          <a:prstGeom prst="rect">
            <a:avLst/>
          </a:prstGeom>
          <a:noFill/>
        </p:spPr>
        <p:txBody>
          <a:bodyPr wrap="square" lIns="0" tIns="0" rIns="0" bIns="0" rtlCol="0" anchor="ctr"/>
          <a:lstStyle/>
          <a:p>
            <a:pPr marL="0" indent="0">
              <a:buNone/>
            </a:pPr>
            <a:r>
              <a:rPr lang="en-US" sz="11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other words</a:t>
            </a:r>
            <a:endParaRPr lang="en-US" sz="1100" dirty="0"/>
          </a:p>
        </p:txBody>
      </p:sp>
      <p:sp>
        <p:nvSpPr>
          <p:cNvPr id="9" name="Shape 6"/>
          <p:cNvSpPr/>
          <p:nvPr/>
        </p:nvSpPr>
        <p:spPr>
          <a:xfrm>
            <a:off x="1828800" y="2852928"/>
            <a:ext cx="457200" cy="237744"/>
          </a:xfrm>
          <a:prstGeom prst="rect">
            <a:avLst/>
          </a:prstGeom>
          <a:solidFill>
            <a:srgbClr val="12A0B5"/>
          </a:solidFill>
          <a:ln w="12700">
            <a:solidFill>
              <a:srgbClr val="12A0B5"/>
            </a:solidFill>
            <a:prstDash val="solid"/>
          </a:ln>
        </p:spPr>
      </p:sp>
      <p:sp>
        <p:nvSpPr>
          <p:cNvPr id="10" name="Text 7"/>
          <p:cNvSpPr txBox="1"/>
          <p:nvPr/>
        </p:nvSpPr>
        <p:spPr>
          <a:xfrm>
            <a:off x="2423160" y="2743200"/>
            <a:ext cx="1828800" cy="457200"/>
          </a:xfrm>
          <a:prstGeom prst="rect">
            <a:avLst/>
          </a:prstGeom>
          <a:noFill/>
        </p:spPr>
        <p:txBody>
          <a:bodyPr wrap="square" lIns="0" tIns="0" rIns="0" bIns="0" rtlCol="0" anchor="ctr"/>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each small</a:t>
            </a:r>
            <a:endParaRPr lang="en-US" sz="1200" dirty="0"/>
          </a:p>
        </p:txBody>
      </p:sp>
      <p:sp>
        <p:nvSpPr>
          <p:cNvPr id="11" name="Shape 8"/>
          <p:cNvSpPr/>
          <p:nvPr/>
        </p:nvSpPr>
        <p:spPr>
          <a:xfrm>
            <a:off x="6400800" y="1783080"/>
            <a:ext cx="2286000" cy="1920240"/>
          </a:xfrm>
          <a:prstGeom prst="rect">
            <a:avLst/>
          </a:prstGeom>
          <a:solidFill>
            <a:srgbClr val="0B1E3F"/>
          </a:solidFill>
          <a:ln w="12700">
            <a:solidFill>
              <a:srgbClr val="0B1E3F"/>
            </a:solidFill>
            <a:prstDash val="solid"/>
          </a:ln>
        </p:spPr>
      </p:sp>
      <p:sp>
        <p:nvSpPr>
          <p:cNvPr id="12" name="Text 9"/>
          <p:cNvSpPr txBox="1"/>
          <p:nvPr/>
        </p:nvSpPr>
        <p:spPr>
          <a:xfrm>
            <a:off x="6583680" y="1874520"/>
            <a:ext cx="1920240" cy="731520"/>
          </a:xfrm>
          <a:prstGeom prst="rect">
            <a:avLst/>
          </a:prstGeom>
          <a:noFill/>
        </p:spPr>
        <p:txBody>
          <a:bodyPr wrap="square" lIns="0" tIns="0" rIns="0" bIns="0" rtlCol="0" anchor="t"/>
          <a:lstStyle/>
          <a:p>
            <a:pPr marL="0" indent="0">
              <a:buNone/>
            </a:pPr>
            <a:r>
              <a:rPr lang="en-US" sz="4000" b="1" dirty="0">
                <a:solidFill>
                  <a:srgbClr val="7FD3E0"/>
                </a:solidFill>
                <a:latin typeface="Cambria" panose="02040503050406030204" pitchFamily="34" charset="0"/>
                <a:ea typeface="Cambria" panose="02040503050406030204" pitchFamily="34" charset="-122"/>
                <a:cs typeface="Cambria" panose="02040503050406030204" pitchFamily="34" charset="-120"/>
              </a:rPr>
              <a:t>0.468</a:t>
            </a:r>
            <a:endParaRPr lang="en-US" sz="4000" dirty="0"/>
          </a:p>
        </p:txBody>
      </p:sp>
      <p:sp>
        <p:nvSpPr>
          <p:cNvPr id="13" name="Text 10"/>
          <p:cNvSpPr txBox="1"/>
          <p:nvPr/>
        </p:nvSpPr>
        <p:spPr>
          <a:xfrm>
            <a:off x="6583680" y="2697480"/>
            <a:ext cx="1920240" cy="822960"/>
          </a:xfrm>
          <a:prstGeom prst="rect">
            <a:avLst/>
          </a:prstGeom>
          <a:noFill/>
        </p:spPr>
        <p:txBody>
          <a:bodyPr wrap="square" lIns="0" tIns="0" rIns="0" bIns="0" rtlCol="0" anchor="t"/>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predicted: OTHER_FINANCIAL_DISPUTE</a:t>
            </a:r>
            <a:endParaRPr lang="en-US" sz="1300" dirty="0"/>
          </a:p>
        </p:txBody>
      </p:sp>
      <p:sp>
        <p:nvSpPr>
          <p:cNvPr id="14" name="Text 11"/>
          <p:cNvSpPr txBox="1"/>
          <p:nvPr/>
        </p:nvSpPr>
        <p:spPr>
          <a:xfrm>
            <a:off x="457200" y="4114800"/>
            <a:ext cx="8229600" cy="365760"/>
          </a:xfrm>
          <a:prstGeom prst="rect">
            <a:avLst/>
          </a:prstGeom>
          <a:noFill/>
        </p:spPr>
        <p:txBody>
          <a:bodyPr wrap="square" lIns="0" tIns="0" rIns="0" bIns="0" rtlCol="0" anchor="t"/>
          <a:lstStyle/>
          <a:p>
            <a:pPr marL="0" indent="0">
              <a:buNone/>
            </a:pPr>
            <a:r>
              <a:rPr lang="en-US" sz="1500" i="1" dirty="0">
                <a:solidFill>
                  <a:srgbClr val="0B1E3F"/>
                </a:solidFill>
                <a:latin typeface="Calibri" panose="020F0502020204030204" pitchFamily="34" charset="0"/>
                <a:ea typeface="Calibri" panose="020F0502020204030204" pitchFamily="34" charset="-122"/>
                <a:cs typeface="Calibri" panose="020F0502020204030204" pitchFamily="34" charset="-120"/>
              </a:rPr>
              <a:t>An explanation helps an analyst inspect a prediction — it does not prove it is correct.</a:t>
            </a:r>
            <a:endParaRPr lang="en-US" sz="1500" dirty="0"/>
          </a:p>
        </p:txBody>
      </p:sp>
      <p:sp>
        <p:nvSpPr>
          <p:cNvPr id="15" name="Text 12"/>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16" name="Text 13"/>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Human review: knowing when to hand over</a:t>
            </a:r>
            <a:endParaRPr lang="en-US" sz="3000" dirty="0"/>
          </a:p>
        </p:txBody>
      </p:sp>
      <p:sp>
        <p:nvSpPr>
          <p:cNvPr id="4" name="Shape 1"/>
          <p:cNvSpPr/>
          <p:nvPr/>
        </p:nvSpPr>
        <p:spPr>
          <a:xfrm>
            <a:off x="457200" y="1463040"/>
            <a:ext cx="1874520" cy="1920240"/>
          </a:xfrm>
          <a:prstGeom prst="rect">
            <a:avLst/>
          </a:prstGeom>
          <a:solidFill>
            <a:srgbClr val="FFFFFF"/>
          </a:solidFill>
          <a:ln w="12700">
            <a:solidFill>
              <a:srgbClr val="12A0B5"/>
            </a:solidFill>
            <a:prstDash val="solid"/>
          </a:ln>
        </p:spPr>
      </p:sp>
      <p:sp>
        <p:nvSpPr>
          <p:cNvPr id="5" name="Text 2"/>
          <p:cNvSpPr txBox="1"/>
          <p:nvPr/>
        </p:nvSpPr>
        <p:spPr>
          <a:xfrm>
            <a:off x="594360" y="1572768"/>
            <a:ext cx="1645920" cy="45720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COMPLAINT</a:t>
            </a:r>
            <a:endParaRPr lang="en-US" sz="1000" dirty="0"/>
          </a:p>
        </p:txBody>
      </p:sp>
      <p:sp>
        <p:nvSpPr>
          <p:cNvPr id="6" name="Text 3"/>
          <p:cNvSpPr txBox="1"/>
          <p:nvPr/>
        </p:nvSpPr>
        <p:spPr>
          <a:xfrm>
            <a:off x="594360" y="2103120"/>
            <a:ext cx="1645920" cy="1188720"/>
          </a:xfrm>
          <a:prstGeom prst="rect">
            <a:avLst/>
          </a:prstGeom>
          <a:noFill/>
        </p:spPr>
        <p:txBody>
          <a:bodyPr wrap="square" lIns="0" tIns="0" rIns="0" bIns="0" rtlCol="0" anchor="t"/>
          <a:lstStyle/>
          <a:p>
            <a:pPr marL="0" indent="0">
              <a:buNone/>
            </a:pPr>
            <a:r>
              <a:rPr lang="en-US" sz="1500" dirty="0">
                <a:solidFill>
                  <a:srgbClr val="0B1E3F"/>
                </a:solidFill>
                <a:latin typeface="Cambria" panose="02040503050406030204" pitchFamily="34" charset="0"/>
                <a:ea typeface="Cambria" panose="02040503050406030204" pitchFamily="34" charset="-122"/>
                <a:cs typeface="Cambria" panose="02040503050406030204" pitchFamily="34" charset="-120"/>
              </a:rPr>
              <a:t>"Money was deducted but receiver did not get it"</a:t>
            </a:r>
            <a:endParaRPr lang="en-US" sz="1500" dirty="0"/>
          </a:p>
        </p:txBody>
      </p:sp>
      <p:sp>
        <p:nvSpPr>
          <p:cNvPr id="7" name="Text 4"/>
          <p:cNvSpPr txBox="1"/>
          <p:nvPr/>
        </p:nvSpPr>
        <p:spPr>
          <a:xfrm>
            <a:off x="2313432" y="2194560"/>
            <a:ext cx="274320" cy="365760"/>
          </a:xfrm>
          <a:prstGeom prst="rect">
            <a:avLst/>
          </a:prstGeom>
          <a:noFill/>
        </p:spPr>
        <p:txBody>
          <a:bodyPr wrap="square" lIns="0" tIns="0" rIns="0" bIns="0" rtlCol="0" anchor="t"/>
          <a:lstStyle/>
          <a:p>
            <a:pPr marL="0" indent="0" algn="ctr">
              <a:buNone/>
            </a:pPr>
            <a:r>
              <a:rPr lang="en-US" sz="18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8" name="Shape 5"/>
          <p:cNvSpPr/>
          <p:nvPr/>
        </p:nvSpPr>
        <p:spPr>
          <a:xfrm>
            <a:off x="2560320" y="1463040"/>
            <a:ext cx="1874520" cy="1920240"/>
          </a:xfrm>
          <a:prstGeom prst="rect">
            <a:avLst/>
          </a:prstGeom>
          <a:solidFill>
            <a:srgbClr val="FFFFFF"/>
          </a:solidFill>
          <a:ln w="12700">
            <a:solidFill>
              <a:srgbClr val="12A0B5"/>
            </a:solidFill>
            <a:prstDash val="solid"/>
          </a:ln>
        </p:spPr>
      </p:sp>
      <p:sp>
        <p:nvSpPr>
          <p:cNvPr id="9" name="Text 6"/>
          <p:cNvSpPr txBox="1"/>
          <p:nvPr/>
        </p:nvSpPr>
        <p:spPr>
          <a:xfrm>
            <a:off x="2697480" y="1572768"/>
            <a:ext cx="1645920" cy="45720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PREDICTION</a:t>
            </a:r>
            <a:endParaRPr lang="en-US" sz="1000" dirty="0"/>
          </a:p>
        </p:txBody>
      </p:sp>
      <p:sp>
        <p:nvSpPr>
          <p:cNvPr id="10" name="Text 7"/>
          <p:cNvSpPr txBox="1"/>
          <p:nvPr/>
        </p:nvSpPr>
        <p:spPr>
          <a:xfrm>
            <a:off x="2697480" y="2103120"/>
            <a:ext cx="1645920" cy="1188720"/>
          </a:xfrm>
          <a:prstGeom prst="rect">
            <a:avLst/>
          </a:prstGeom>
          <a:noFill/>
        </p:spPr>
        <p:txBody>
          <a:bodyPr wrap="square" lIns="0" tIns="0" rIns="0" bIns="0" rtlCol="0" anchor="t"/>
          <a:lstStyle/>
          <a:p>
            <a:pPr marL="0" indent="0">
              <a:buNone/>
            </a:pPr>
            <a:r>
              <a:rPr lang="en-US" sz="1500" dirty="0">
                <a:solidFill>
                  <a:srgbClr val="0B1E3F"/>
                </a:solidFill>
                <a:latin typeface="Cambria" panose="02040503050406030204" pitchFamily="34" charset="0"/>
                <a:ea typeface="Cambria" panose="02040503050406030204" pitchFamily="34" charset="-122"/>
                <a:cs typeface="Cambria" panose="02040503050406030204" pitchFamily="34" charset="-120"/>
              </a:rPr>
              <a:t>OTHER_FINANCIAL_DISPUTE</a:t>
            </a:r>
            <a:endParaRPr lang="en-US" sz="1500" dirty="0"/>
          </a:p>
        </p:txBody>
      </p:sp>
      <p:sp>
        <p:nvSpPr>
          <p:cNvPr id="11" name="Text 8"/>
          <p:cNvSpPr txBox="1"/>
          <p:nvPr/>
        </p:nvSpPr>
        <p:spPr>
          <a:xfrm>
            <a:off x="4416552" y="2194560"/>
            <a:ext cx="274320" cy="365760"/>
          </a:xfrm>
          <a:prstGeom prst="rect">
            <a:avLst/>
          </a:prstGeom>
          <a:noFill/>
        </p:spPr>
        <p:txBody>
          <a:bodyPr wrap="square" lIns="0" tIns="0" rIns="0" bIns="0" rtlCol="0" anchor="t"/>
          <a:lstStyle/>
          <a:p>
            <a:pPr marL="0" indent="0" algn="ctr">
              <a:buNone/>
            </a:pPr>
            <a:r>
              <a:rPr lang="en-US" sz="18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2" name="Shape 9"/>
          <p:cNvSpPr/>
          <p:nvPr/>
        </p:nvSpPr>
        <p:spPr>
          <a:xfrm>
            <a:off x="4663440" y="1463040"/>
            <a:ext cx="1874520" cy="1920240"/>
          </a:xfrm>
          <a:prstGeom prst="rect">
            <a:avLst/>
          </a:prstGeom>
          <a:solidFill>
            <a:srgbClr val="FFFFFF"/>
          </a:solidFill>
          <a:ln w="12700">
            <a:solidFill>
              <a:srgbClr val="12A0B5"/>
            </a:solidFill>
            <a:prstDash val="solid"/>
          </a:ln>
        </p:spPr>
      </p:sp>
      <p:sp>
        <p:nvSpPr>
          <p:cNvPr id="13" name="Text 10"/>
          <p:cNvSpPr txBox="1"/>
          <p:nvPr/>
        </p:nvSpPr>
        <p:spPr>
          <a:xfrm>
            <a:off x="4800600" y="1572768"/>
            <a:ext cx="1645920" cy="45720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CONFIDENCE + EXPLANATION</a:t>
            </a:r>
            <a:endParaRPr lang="en-US" sz="1000" dirty="0"/>
          </a:p>
        </p:txBody>
      </p:sp>
      <p:sp>
        <p:nvSpPr>
          <p:cNvPr id="14" name="Text 11"/>
          <p:cNvSpPr txBox="1"/>
          <p:nvPr/>
        </p:nvSpPr>
        <p:spPr>
          <a:xfrm>
            <a:off x="4800600" y="2103120"/>
            <a:ext cx="1645920" cy="1188720"/>
          </a:xfrm>
          <a:prstGeom prst="rect">
            <a:avLst/>
          </a:prstGeom>
          <a:noFill/>
        </p:spPr>
        <p:txBody>
          <a:bodyPr wrap="square" lIns="0" tIns="0" rIns="0" bIns="0" rtlCol="0" anchor="t"/>
          <a:lstStyle/>
          <a:p>
            <a:pPr marL="0" indent="0">
              <a:buNone/>
            </a:pPr>
            <a:r>
              <a:rPr lang="en-US" sz="1500" dirty="0">
                <a:solidFill>
                  <a:srgbClr val="0B1E3F"/>
                </a:solidFill>
                <a:latin typeface="Cambria" panose="02040503050406030204" pitchFamily="34" charset="0"/>
                <a:ea typeface="Cambria" panose="02040503050406030204" pitchFamily="34" charset="-122"/>
                <a:cs typeface="Cambria" panose="02040503050406030204" pitchFamily="34" charset="-120"/>
              </a:rPr>
              <a:t>0.468 · "deducted" −0.35</a:t>
            </a:r>
            <a:endParaRPr lang="en-US" sz="1500" dirty="0"/>
          </a:p>
        </p:txBody>
      </p:sp>
      <p:sp>
        <p:nvSpPr>
          <p:cNvPr id="15" name="Text 12"/>
          <p:cNvSpPr txBox="1"/>
          <p:nvPr/>
        </p:nvSpPr>
        <p:spPr>
          <a:xfrm>
            <a:off x="6519672" y="2194560"/>
            <a:ext cx="274320" cy="365760"/>
          </a:xfrm>
          <a:prstGeom prst="rect">
            <a:avLst/>
          </a:prstGeom>
          <a:noFill/>
        </p:spPr>
        <p:txBody>
          <a:bodyPr wrap="square" lIns="0" tIns="0" rIns="0" bIns="0" rtlCol="0" anchor="t"/>
          <a:lstStyle/>
          <a:p>
            <a:pPr marL="0" indent="0" algn="ctr">
              <a:buNone/>
            </a:pPr>
            <a:r>
              <a:rPr lang="en-US" sz="1800" b="1" dirty="0">
                <a:solidFill>
                  <a:srgbClr val="12A0B5"/>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6" name="Shape 13"/>
          <p:cNvSpPr/>
          <p:nvPr/>
        </p:nvSpPr>
        <p:spPr>
          <a:xfrm>
            <a:off x="6766560" y="1463040"/>
            <a:ext cx="1874520" cy="1920240"/>
          </a:xfrm>
          <a:prstGeom prst="rect">
            <a:avLst/>
          </a:prstGeom>
          <a:solidFill>
            <a:srgbClr val="0B1E3F"/>
          </a:solidFill>
          <a:ln w="12700">
            <a:solidFill>
              <a:srgbClr val="0B1E3F"/>
            </a:solidFill>
            <a:prstDash val="solid"/>
          </a:ln>
        </p:spPr>
      </p:sp>
      <p:sp>
        <p:nvSpPr>
          <p:cNvPr id="17" name="Text 14"/>
          <p:cNvSpPr txBox="1"/>
          <p:nvPr/>
        </p:nvSpPr>
        <p:spPr>
          <a:xfrm>
            <a:off x="6903720" y="1572768"/>
            <a:ext cx="1645920" cy="457200"/>
          </a:xfrm>
          <a:prstGeom prst="rect">
            <a:avLst/>
          </a:prstGeom>
          <a:noFill/>
        </p:spPr>
        <p:txBody>
          <a:bodyPr wrap="square" lIns="0" tIns="0" rIns="0" bIns="0" rtlCol="0" anchor="t"/>
          <a:lstStyle/>
          <a:p>
            <a:pPr marL="0" indent="0">
              <a:buNone/>
            </a:pPr>
            <a:r>
              <a:rPr lang="en-US" sz="1000" b="1" dirty="0">
                <a:solidFill>
                  <a:srgbClr val="7FD3E0"/>
                </a:solidFill>
                <a:latin typeface="Courier New" panose="02070309020205020404" pitchFamily="34" charset="0"/>
                <a:ea typeface="Courier New" panose="02070309020205020404" pitchFamily="34" charset="-122"/>
                <a:cs typeface="Courier New" panose="02070309020205020404" pitchFamily="34" charset="-120"/>
              </a:rPr>
              <a:t>REVIEW DECISION</a:t>
            </a:r>
            <a:endParaRPr lang="en-US" sz="1000" dirty="0"/>
          </a:p>
        </p:txBody>
      </p:sp>
      <p:sp>
        <p:nvSpPr>
          <p:cNvPr id="18" name="Text 15"/>
          <p:cNvSpPr txBox="1"/>
          <p:nvPr/>
        </p:nvSpPr>
        <p:spPr>
          <a:xfrm>
            <a:off x="6903720" y="2103120"/>
            <a:ext cx="1645920" cy="1188720"/>
          </a:xfrm>
          <a:prstGeom prst="rect">
            <a:avLst/>
          </a:prstGeom>
          <a:noFill/>
        </p:spPr>
        <p:txBody>
          <a:bodyPr wrap="square" lIns="0" tIns="0" rIns="0" bIns="0" rtlCol="0" anchor="t"/>
          <a:lstStyle/>
          <a:p>
            <a:pPr marL="0" indent="0">
              <a:buNone/>
            </a:pPr>
            <a:r>
              <a:rPr lang="en-US" sz="1500" dirty="0">
                <a:solidFill>
                  <a:srgbClr val="FFFFFF"/>
                </a:solidFill>
                <a:latin typeface="Cambria" panose="02040503050406030204" pitchFamily="34" charset="0"/>
                <a:ea typeface="Cambria" panose="02040503050406030204" pitchFamily="34" charset="-122"/>
                <a:cs typeface="Cambria" panose="02040503050406030204" pitchFamily="34" charset="-120"/>
              </a:rPr>
              <a:t>0.468 &lt; 0.60 → Human review required</a:t>
            </a:r>
            <a:endParaRPr lang="en-US" sz="1500" dirty="0"/>
          </a:p>
        </p:txBody>
      </p:sp>
      <p:sp>
        <p:nvSpPr>
          <p:cNvPr id="19" name="Shape 16"/>
          <p:cNvSpPr/>
          <p:nvPr/>
        </p:nvSpPr>
        <p:spPr>
          <a:xfrm>
            <a:off x="457200" y="3657600"/>
            <a:ext cx="8229600" cy="731520"/>
          </a:xfrm>
          <a:prstGeom prst="rect">
            <a:avLst/>
          </a:prstGeom>
          <a:solidFill>
            <a:srgbClr val="DDF1F4"/>
          </a:solidFill>
          <a:ln w="12700">
            <a:solidFill>
              <a:srgbClr val="12A0B5"/>
            </a:solidFill>
            <a:prstDash val="solid"/>
          </a:ln>
        </p:spPr>
      </p:sp>
      <p:sp>
        <p:nvSpPr>
          <p:cNvPr id="20" name="Text 17"/>
          <p:cNvSpPr txBox="1"/>
          <p:nvPr/>
        </p:nvSpPr>
        <p:spPr>
          <a:xfrm>
            <a:off x="640080" y="3657600"/>
            <a:ext cx="7863840" cy="731520"/>
          </a:xfrm>
          <a:prstGeom prst="rect">
            <a:avLst/>
          </a:prstGeom>
          <a:noFill/>
        </p:spPr>
        <p:txBody>
          <a:bodyPr wrap="square" lIns="0" tIns="0" rIns="0" bIns="0" rtlCol="0" anchor="ctr"/>
          <a:lstStyle/>
          <a:p>
            <a:pPr marL="0" indent="0">
              <a:buNone/>
            </a:pPr>
            <a:r>
              <a:rPr lang="en-US" sz="1500" dirty="0">
                <a:solidFill>
                  <a:srgbClr val="0B1E3F"/>
                </a:solidFill>
                <a:latin typeface="Calibri" panose="020F0502020204030204" pitchFamily="34" charset="0"/>
                <a:ea typeface="Calibri" panose="020F0502020204030204" pitchFamily="34" charset="-122"/>
                <a:cs typeface="Calibri" panose="020F0502020204030204" pitchFamily="34" charset="-120"/>
              </a:rPr>
              <a:t>The 0.60 cutoff is a fixed triage threshold, not a calibrated probability.</a:t>
            </a:r>
            <a:endParaRPr lang="en-US" sz="1500" dirty="0"/>
          </a:p>
        </p:txBody>
      </p:sp>
      <p:sp>
        <p:nvSpPr>
          <p:cNvPr id="21" name="Text 18"/>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22" name="Text 19"/>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p:spPr>
        <p:txBody>
          <a:bodyPr wrap="square" lIns="0" tIns="0" rIns="0" bIns="0" rtlCol="0" anchor="t"/>
          <a:lstStyle/>
          <a:p>
            <a:pPr marL="0" indent="0">
              <a:buNone/>
            </a:pPr>
            <a:r>
              <a:rPr lang="en-US" sz="3000" b="1" dirty="0">
                <a:solidFill>
                  <a:srgbClr val="0B1E3F"/>
                </a:solidFill>
                <a:latin typeface="Cambria" panose="02040503050406030204" pitchFamily="34" charset="0"/>
                <a:ea typeface="Cambria" panose="02040503050406030204" pitchFamily="34" charset="-122"/>
                <a:cs typeface="Cambria" panose="02040503050406030204" pitchFamily="34" charset="-120"/>
              </a:rPr>
              <a:t>How Wording Influences Model Confidence</a:t>
            </a:r>
            <a:endParaRPr lang="en-US" sz="3000" dirty="0"/>
          </a:p>
        </p:txBody>
      </p:sp>
      <p:sp>
        <p:nvSpPr>
          <p:cNvPr id="4" name="Text 1"/>
          <p:cNvSpPr txBox="1"/>
          <p:nvPr/>
        </p:nvSpPr>
        <p:spPr>
          <a:xfrm>
            <a:off x="457200" y="1188720"/>
            <a:ext cx="4572000" cy="274320"/>
          </a:xfrm>
          <a:prstGeom prst="rect">
            <a:avLst/>
          </a:prstGeom>
          <a:noFill/>
        </p:spPr>
        <p:txBody>
          <a:bodyPr wrap="square" lIns="0" tIns="0" rIns="0" bIns="0" rtlCol="0" anchor="t"/>
          <a:lstStyle/>
          <a:p>
            <a:pPr marL="0" indent="0">
              <a:buNone/>
            </a:pPr>
            <a:r>
              <a:rPr lang="en-US" sz="1200" b="1" dirty="0">
                <a:solidFill>
                  <a:srgbClr val="5F6B7A"/>
                </a:solidFill>
                <a:latin typeface="Calibri" panose="020F0502020204030204" pitchFamily="34" charset="0"/>
                <a:ea typeface="Calibri" panose="020F0502020204030204" pitchFamily="34" charset="-122"/>
                <a:cs typeface="Calibri" panose="020F0502020204030204" pitchFamily="34" charset="-120"/>
              </a:rPr>
              <a:t>One complaint, four writing styles — MiniLM score</a:t>
            </a:r>
            <a:endParaRPr lang="en-US" sz="1200" dirty="0"/>
          </a:p>
        </p:txBody>
      </p:sp>
      <p:sp>
        <p:nvSpPr>
          <p:cNvPr id="5" name="Shape 2"/>
          <p:cNvSpPr/>
          <p:nvPr/>
        </p:nvSpPr>
        <p:spPr>
          <a:xfrm>
            <a:off x="457200" y="1554480"/>
            <a:ext cx="4754880" cy="457200"/>
          </a:xfrm>
          <a:prstGeom prst="rect">
            <a:avLst/>
          </a:prstGeom>
          <a:solidFill>
            <a:srgbClr val="FFFFFF"/>
          </a:solidFill>
          <a:ln w="12700">
            <a:solidFill>
              <a:srgbClr val="D8DDE3"/>
            </a:solidFill>
            <a:prstDash val="solid"/>
          </a:ln>
        </p:spPr>
      </p:sp>
      <p:sp>
        <p:nvSpPr>
          <p:cNvPr id="6" name="Text 3"/>
          <p:cNvSpPr txBox="1"/>
          <p:nvPr/>
        </p:nvSpPr>
        <p:spPr>
          <a:xfrm>
            <a:off x="640080" y="1554480"/>
            <a:ext cx="1371600" cy="457200"/>
          </a:xfrm>
          <a:prstGeom prst="rect">
            <a:avLst/>
          </a:prstGeom>
          <a:noFill/>
        </p:spPr>
        <p:txBody>
          <a:bodyPr wrap="square" lIns="0" tIns="0" rIns="0" bIns="0" rtlCol="0" anchor="ctr"/>
          <a:lstStyle/>
          <a:p>
            <a:pPr marL="0" indent="0">
              <a:buNone/>
            </a:pPr>
            <a:r>
              <a:rPr lang="en-US" sz="1400" b="1" dirty="0">
                <a:solidFill>
                  <a:srgbClr val="0B1E3F"/>
                </a:solidFill>
                <a:latin typeface="Calibri" panose="020F0502020204030204" pitchFamily="34" charset="0"/>
                <a:ea typeface="Calibri" panose="020F0502020204030204" pitchFamily="34" charset="-122"/>
                <a:cs typeface="Calibri" panose="020F0502020204030204" pitchFamily="34" charset="-120"/>
              </a:rPr>
              <a:t>Formal</a:t>
            </a:r>
            <a:endParaRPr lang="en-US" sz="1400" dirty="0"/>
          </a:p>
        </p:txBody>
      </p:sp>
      <p:sp>
        <p:nvSpPr>
          <p:cNvPr id="7" name="Text 4"/>
          <p:cNvSpPr txBox="1"/>
          <p:nvPr/>
        </p:nvSpPr>
        <p:spPr>
          <a:xfrm>
            <a:off x="2011680" y="1554480"/>
            <a:ext cx="1828800" cy="457200"/>
          </a:xfrm>
          <a:prstGeom prst="rect">
            <a:avLst/>
          </a:prstGeom>
          <a:noFill/>
        </p:spPr>
        <p:txBody>
          <a:bodyPr wrap="square" lIns="0" tIns="0" rIns="0" bIns="0" rtlCol="0" anchor="ctr"/>
          <a:lstStyle/>
          <a:p>
            <a:pPr marL="0" indent="0">
              <a:buNone/>
            </a:pPr>
            <a:r>
              <a:rPr lang="en-US" sz="11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 same category</a:t>
            </a:r>
            <a:endParaRPr lang="en-US" sz="1100" dirty="0"/>
          </a:p>
        </p:txBody>
      </p:sp>
      <p:sp>
        <p:nvSpPr>
          <p:cNvPr id="8" name="Text 5"/>
          <p:cNvSpPr txBox="1"/>
          <p:nvPr/>
        </p:nvSpPr>
        <p:spPr>
          <a:xfrm>
            <a:off x="3840480" y="1554480"/>
            <a:ext cx="1188720" cy="457200"/>
          </a:xfrm>
          <a:prstGeom prst="rect">
            <a:avLst/>
          </a:prstGeom>
          <a:noFill/>
        </p:spPr>
        <p:txBody>
          <a:bodyPr wrap="square" lIns="0" tIns="0" rIns="0" bIns="0" rtlCol="0" anchor="ctr"/>
          <a:lstStyle/>
          <a:p>
            <a:pPr marL="0" indent="0" algn="r">
              <a:buNone/>
            </a:pPr>
            <a:r>
              <a:rPr lang="en-US" sz="1700" b="1" dirty="0">
                <a:solidFill>
                  <a:srgbClr val="0B1E3F"/>
                </a:solidFill>
                <a:latin typeface="Courier New" panose="02070309020205020404" pitchFamily="34" charset="0"/>
                <a:ea typeface="Courier New" panose="02070309020205020404" pitchFamily="34" charset="-122"/>
                <a:cs typeface="Courier New" panose="02070309020205020404" pitchFamily="34" charset="-120"/>
              </a:rPr>
              <a:t>0.591</a:t>
            </a:r>
            <a:endParaRPr lang="en-US" sz="1700" dirty="0"/>
          </a:p>
        </p:txBody>
      </p:sp>
      <p:sp>
        <p:nvSpPr>
          <p:cNvPr id="9" name="Shape 6"/>
          <p:cNvSpPr/>
          <p:nvPr/>
        </p:nvSpPr>
        <p:spPr>
          <a:xfrm>
            <a:off x="457200" y="2121408"/>
            <a:ext cx="4754880" cy="457200"/>
          </a:xfrm>
          <a:prstGeom prst="rect">
            <a:avLst/>
          </a:prstGeom>
          <a:solidFill>
            <a:srgbClr val="FFFFFF"/>
          </a:solidFill>
          <a:ln w="12700">
            <a:solidFill>
              <a:srgbClr val="D8DDE3"/>
            </a:solidFill>
            <a:prstDash val="solid"/>
          </a:ln>
        </p:spPr>
      </p:sp>
      <p:sp>
        <p:nvSpPr>
          <p:cNvPr id="10" name="Text 7"/>
          <p:cNvSpPr txBox="1"/>
          <p:nvPr/>
        </p:nvSpPr>
        <p:spPr>
          <a:xfrm>
            <a:off x="640080" y="2121408"/>
            <a:ext cx="1371600" cy="457200"/>
          </a:xfrm>
          <a:prstGeom prst="rect">
            <a:avLst/>
          </a:prstGeom>
          <a:noFill/>
        </p:spPr>
        <p:txBody>
          <a:bodyPr wrap="square" lIns="0" tIns="0" rIns="0" bIns="0" rtlCol="0" anchor="ctr"/>
          <a:lstStyle/>
          <a:p>
            <a:pPr marL="0" indent="0">
              <a:buNone/>
            </a:pPr>
            <a:r>
              <a:rPr lang="en-US" sz="1400" b="1" dirty="0">
                <a:solidFill>
                  <a:srgbClr val="0B1E3F"/>
                </a:solidFill>
                <a:latin typeface="Calibri" panose="020F0502020204030204" pitchFamily="34" charset="0"/>
                <a:ea typeface="Calibri" panose="020F0502020204030204" pitchFamily="34" charset="-122"/>
                <a:cs typeface="Calibri" panose="020F0502020204030204" pitchFamily="34" charset="-120"/>
              </a:rPr>
              <a:t>Informal</a:t>
            </a:r>
            <a:endParaRPr lang="en-US" sz="1400" dirty="0"/>
          </a:p>
        </p:txBody>
      </p:sp>
      <p:sp>
        <p:nvSpPr>
          <p:cNvPr id="11" name="Text 8"/>
          <p:cNvSpPr txBox="1"/>
          <p:nvPr/>
        </p:nvSpPr>
        <p:spPr>
          <a:xfrm>
            <a:off x="2011680" y="2121408"/>
            <a:ext cx="1828800" cy="457200"/>
          </a:xfrm>
          <a:prstGeom prst="rect">
            <a:avLst/>
          </a:prstGeom>
          <a:noFill/>
        </p:spPr>
        <p:txBody>
          <a:bodyPr wrap="square" lIns="0" tIns="0" rIns="0" bIns="0" rtlCol="0" anchor="ctr"/>
          <a:lstStyle/>
          <a:p>
            <a:pPr marL="0" indent="0">
              <a:buNone/>
            </a:pPr>
            <a:r>
              <a:rPr lang="en-US" sz="11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 same category</a:t>
            </a:r>
            <a:endParaRPr lang="en-US" sz="1100" dirty="0"/>
          </a:p>
        </p:txBody>
      </p:sp>
      <p:sp>
        <p:nvSpPr>
          <p:cNvPr id="12" name="Text 9"/>
          <p:cNvSpPr txBox="1"/>
          <p:nvPr/>
        </p:nvSpPr>
        <p:spPr>
          <a:xfrm>
            <a:off x="3840480" y="2121408"/>
            <a:ext cx="1188720" cy="457200"/>
          </a:xfrm>
          <a:prstGeom prst="rect">
            <a:avLst/>
          </a:prstGeom>
          <a:noFill/>
        </p:spPr>
        <p:txBody>
          <a:bodyPr wrap="square" lIns="0" tIns="0" rIns="0" bIns="0" rtlCol="0" anchor="ctr"/>
          <a:lstStyle/>
          <a:p>
            <a:pPr marL="0" indent="0" algn="r">
              <a:buNone/>
            </a:pPr>
            <a:r>
              <a:rPr lang="en-US" sz="1700" b="1" dirty="0">
                <a:solidFill>
                  <a:srgbClr val="0B1E3F"/>
                </a:solidFill>
                <a:latin typeface="Courier New" panose="02070309020205020404" pitchFamily="34" charset="0"/>
                <a:ea typeface="Courier New" panose="02070309020205020404" pitchFamily="34" charset="-122"/>
                <a:cs typeface="Courier New" panose="02070309020205020404" pitchFamily="34" charset="-120"/>
              </a:rPr>
              <a:t>0.726</a:t>
            </a:r>
            <a:endParaRPr lang="en-US" sz="1700" dirty="0"/>
          </a:p>
        </p:txBody>
      </p:sp>
      <p:sp>
        <p:nvSpPr>
          <p:cNvPr id="13" name="Shape 10"/>
          <p:cNvSpPr/>
          <p:nvPr/>
        </p:nvSpPr>
        <p:spPr>
          <a:xfrm>
            <a:off x="457200" y="2688336"/>
            <a:ext cx="4754880" cy="457200"/>
          </a:xfrm>
          <a:prstGeom prst="rect">
            <a:avLst/>
          </a:prstGeom>
          <a:solidFill>
            <a:srgbClr val="FFFFFF"/>
          </a:solidFill>
          <a:ln w="12700">
            <a:solidFill>
              <a:srgbClr val="D8DDE3"/>
            </a:solidFill>
            <a:prstDash val="solid"/>
          </a:ln>
        </p:spPr>
      </p:sp>
      <p:sp>
        <p:nvSpPr>
          <p:cNvPr id="14" name="Text 11"/>
          <p:cNvSpPr txBox="1"/>
          <p:nvPr/>
        </p:nvSpPr>
        <p:spPr>
          <a:xfrm>
            <a:off x="640080" y="2688336"/>
            <a:ext cx="1371600" cy="457200"/>
          </a:xfrm>
          <a:prstGeom prst="rect">
            <a:avLst/>
          </a:prstGeom>
          <a:noFill/>
        </p:spPr>
        <p:txBody>
          <a:bodyPr wrap="square" lIns="0" tIns="0" rIns="0" bIns="0" rtlCol="0" anchor="ctr"/>
          <a:lstStyle/>
          <a:p>
            <a:pPr marL="0" indent="0">
              <a:buNone/>
            </a:pPr>
            <a:r>
              <a:rPr lang="en-US" sz="1400" b="1" dirty="0">
                <a:solidFill>
                  <a:srgbClr val="0B1E3F"/>
                </a:solidFill>
                <a:latin typeface="Calibri" panose="020F0502020204030204" pitchFamily="34" charset="0"/>
                <a:ea typeface="Calibri" panose="020F0502020204030204" pitchFamily="34" charset="-122"/>
                <a:cs typeface="Calibri" panose="020F0502020204030204" pitchFamily="34" charset="-120"/>
              </a:rPr>
              <a:t>Noisy</a:t>
            </a:r>
            <a:endParaRPr lang="en-US" sz="1400" dirty="0"/>
          </a:p>
        </p:txBody>
      </p:sp>
      <p:sp>
        <p:nvSpPr>
          <p:cNvPr id="15" name="Text 12"/>
          <p:cNvSpPr txBox="1"/>
          <p:nvPr/>
        </p:nvSpPr>
        <p:spPr>
          <a:xfrm>
            <a:off x="2011680" y="2688336"/>
            <a:ext cx="1828800" cy="457200"/>
          </a:xfrm>
          <a:prstGeom prst="rect">
            <a:avLst/>
          </a:prstGeom>
          <a:noFill/>
        </p:spPr>
        <p:txBody>
          <a:bodyPr wrap="square" lIns="0" tIns="0" rIns="0" bIns="0" rtlCol="0" anchor="ctr"/>
          <a:lstStyle/>
          <a:p>
            <a:pPr marL="0" indent="0">
              <a:buNone/>
            </a:pPr>
            <a:r>
              <a:rPr lang="en-US" sz="11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 same category</a:t>
            </a:r>
            <a:endParaRPr lang="en-US" sz="1100" dirty="0"/>
          </a:p>
        </p:txBody>
      </p:sp>
      <p:sp>
        <p:nvSpPr>
          <p:cNvPr id="16" name="Text 13"/>
          <p:cNvSpPr txBox="1"/>
          <p:nvPr/>
        </p:nvSpPr>
        <p:spPr>
          <a:xfrm>
            <a:off x="3840480" y="2688336"/>
            <a:ext cx="1188720" cy="457200"/>
          </a:xfrm>
          <a:prstGeom prst="rect">
            <a:avLst/>
          </a:prstGeom>
          <a:noFill/>
        </p:spPr>
        <p:txBody>
          <a:bodyPr wrap="square" lIns="0" tIns="0" rIns="0" bIns="0" rtlCol="0" anchor="ctr"/>
          <a:lstStyle/>
          <a:p>
            <a:pPr marL="0" indent="0" algn="r">
              <a:buNone/>
            </a:pPr>
            <a:r>
              <a:rPr lang="en-US" sz="1700" b="1" dirty="0">
                <a:solidFill>
                  <a:srgbClr val="0B1E3F"/>
                </a:solidFill>
                <a:latin typeface="Courier New" panose="02070309020205020404" pitchFamily="34" charset="0"/>
                <a:ea typeface="Courier New" panose="02070309020205020404" pitchFamily="34" charset="-122"/>
                <a:cs typeface="Courier New" panose="02070309020205020404" pitchFamily="34" charset="-120"/>
              </a:rPr>
              <a:t>0.668</a:t>
            </a:r>
            <a:endParaRPr lang="en-US" sz="1700" dirty="0"/>
          </a:p>
        </p:txBody>
      </p:sp>
      <p:sp>
        <p:nvSpPr>
          <p:cNvPr id="17" name="Shape 14"/>
          <p:cNvSpPr/>
          <p:nvPr/>
        </p:nvSpPr>
        <p:spPr>
          <a:xfrm>
            <a:off x="457200" y="3255264"/>
            <a:ext cx="4754880" cy="457200"/>
          </a:xfrm>
          <a:prstGeom prst="rect">
            <a:avLst/>
          </a:prstGeom>
          <a:solidFill>
            <a:srgbClr val="0B1E3F"/>
          </a:solidFill>
          <a:ln w="12700">
            <a:solidFill>
              <a:srgbClr val="0B1E3F"/>
            </a:solidFill>
            <a:prstDash val="solid"/>
          </a:ln>
        </p:spPr>
      </p:sp>
      <p:sp>
        <p:nvSpPr>
          <p:cNvPr id="18" name="Text 15"/>
          <p:cNvSpPr txBox="1"/>
          <p:nvPr/>
        </p:nvSpPr>
        <p:spPr>
          <a:xfrm>
            <a:off x="640080" y="3255264"/>
            <a:ext cx="1371600" cy="45720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Hinglish</a:t>
            </a:r>
            <a:endParaRPr lang="en-US" sz="1400" dirty="0"/>
          </a:p>
        </p:txBody>
      </p:sp>
      <p:sp>
        <p:nvSpPr>
          <p:cNvPr id="19" name="Text 16"/>
          <p:cNvSpPr txBox="1"/>
          <p:nvPr/>
        </p:nvSpPr>
        <p:spPr>
          <a:xfrm>
            <a:off x="2011680" y="3255264"/>
            <a:ext cx="1828800" cy="457200"/>
          </a:xfrm>
          <a:prstGeom prst="rect">
            <a:avLst/>
          </a:prstGeom>
          <a:noFill/>
        </p:spPr>
        <p:txBody>
          <a:bodyPr wrap="square" lIns="0" tIns="0" rIns="0" bIns="0" rtlCol="0" anchor="ctr"/>
          <a:lstStyle/>
          <a:p>
            <a:pPr marL="0" indent="0">
              <a:buNone/>
            </a:pPr>
            <a:r>
              <a:rPr lang="en-US" sz="1100" dirty="0">
                <a:solidFill>
                  <a:srgbClr val="AEBBD0"/>
                </a:solidFill>
                <a:latin typeface="Courier New" panose="02070309020205020404" pitchFamily="34" charset="0"/>
                <a:ea typeface="Courier New" panose="02070309020205020404" pitchFamily="34" charset="-122"/>
                <a:cs typeface="Courier New" panose="02070309020205020404" pitchFamily="34" charset="-120"/>
              </a:rPr>
              <a:t>→ same category</a:t>
            </a:r>
            <a:endParaRPr lang="en-US" sz="1100" dirty="0"/>
          </a:p>
        </p:txBody>
      </p:sp>
      <p:sp>
        <p:nvSpPr>
          <p:cNvPr id="20" name="Text 17"/>
          <p:cNvSpPr txBox="1"/>
          <p:nvPr/>
        </p:nvSpPr>
        <p:spPr>
          <a:xfrm>
            <a:off x="3840480" y="3255264"/>
            <a:ext cx="1188720" cy="457200"/>
          </a:xfrm>
          <a:prstGeom prst="rect">
            <a:avLst/>
          </a:prstGeom>
          <a:noFill/>
        </p:spPr>
        <p:txBody>
          <a:bodyPr wrap="square" lIns="0" tIns="0" rIns="0" bIns="0" rtlCol="0" anchor="ctr"/>
          <a:lstStyle/>
          <a:p>
            <a:pPr marL="0" indent="0" algn="r">
              <a:buNone/>
            </a:pPr>
            <a:r>
              <a:rPr lang="en-US" sz="1700" b="1" dirty="0">
                <a:solidFill>
                  <a:srgbClr val="F0B35E"/>
                </a:solidFill>
                <a:latin typeface="Courier New" panose="02070309020205020404" pitchFamily="34" charset="0"/>
                <a:ea typeface="Courier New" panose="02070309020205020404" pitchFamily="34" charset="-122"/>
                <a:cs typeface="Courier New" panose="02070309020205020404" pitchFamily="34" charset="-120"/>
              </a:rPr>
              <a:t>0.807</a:t>
            </a:r>
            <a:endParaRPr lang="en-US" sz="1700" dirty="0"/>
          </a:p>
        </p:txBody>
      </p:sp>
      <p:sp>
        <p:nvSpPr>
          <p:cNvPr id="21" name="Text 18"/>
          <p:cNvSpPr txBox="1"/>
          <p:nvPr/>
        </p:nvSpPr>
        <p:spPr>
          <a:xfrm>
            <a:off x="457200" y="3886200"/>
            <a:ext cx="4754880" cy="822960"/>
          </a:xfrm>
          <a:prstGeom prst="rect">
            <a:avLst/>
          </a:prstGeom>
          <a:noFill/>
        </p:spPr>
        <p:txBody>
          <a:bodyPr wrap="square" lIns="0" tIns="0" rIns="0" bIns="0" rtlCol="0" anchor="t"/>
          <a:lstStyle/>
          <a:p>
            <a:pPr marL="0" indent="0">
              <a:buNone/>
            </a:pPr>
            <a:r>
              <a:rPr lang="en-US" sz="1200" dirty="0">
                <a:solidFill>
                  <a:srgbClr val="5F6B7A"/>
                </a:solidFill>
                <a:latin typeface="Calibri" panose="020F0502020204030204" pitchFamily="34" charset="0"/>
                <a:ea typeface="Calibri" panose="020F0502020204030204" pitchFamily="34" charset="-122"/>
                <a:cs typeface="Calibri" panose="020F0502020204030204" pitchFamily="34" charset="-120"/>
              </a:rPr>
              <a:t>Exploratory test: FAILED_TRANSFER is not among the 10 trained categories, so these four cases do not measure general language performance.</a:t>
            </a:r>
            <a:endParaRPr lang="en-US" sz="1200" dirty="0"/>
          </a:p>
        </p:txBody>
      </p:sp>
      <p:sp>
        <p:nvSpPr>
          <p:cNvPr id="22" name="Shape 19"/>
          <p:cNvSpPr/>
          <p:nvPr/>
        </p:nvSpPr>
        <p:spPr>
          <a:xfrm>
            <a:off x="5577840" y="1280160"/>
            <a:ext cx="3108960" cy="3108960"/>
          </a:xfrm>
          <a:prstGeom prst="rect">
            <a:avLst/>
          </a:prstGeom>
          <a:solidFill>
            <a:srgbClr val="DDF1F4"/>
          </a:solidFill>
          <a:ln w="12700">
            <a:solidFill>
              <a:srgbClr val="12A0B5"/>
            </a:solidFill>
            <a:prstDash val="solid"/>
          </a:ln>
        </p:spPr>
      </p:sp>
      <p:sp>
        <p:nvSpPr>
          <p:cNvPr id="23" name="Text 20"/>
          <p:cNvSpPr txBox="1"/>
          <p:nvPr/>
        </p:nvSpPr>
        <p:spPr>
          <a:xfrm>
            <a:off x="5760720" y="1417320"/>
            <a:ext cx="274320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KEY TAKEAWAY</a:t>
            </a:r>
            <a:endParaRPr lang="en-US" sz="1000" dirty="0"/>
          </a:p>
        </p:txBody>
      </p:sp>
      <p:sp>
        <p:nvSpPr>
          <p:cNvPr id="24" name="Text 21"/>
          <p:cNvSpPr txBox="1"/>
          <p:nvPr/>
        </p:nvSpPr>
        <p:spPr>
          <a:xfrm>
            <a:off x="5760720" y="1783080"/>
            <a:ext cx="2743200" cy="914400"/>
          </a:xfrm>
          <a:prstGeom prst="rect">
            <a:avLst/>
          </a:prstGeom>
          <a:noFill/>
        </p:spPr>
        <p:txBody>
          <a:bodyPr wrap="square" lIns="0" tIns="0" rIns="0" bIns="0" rtlCol="0" anchor="t"/>
          <a:lstStyle/>
          <a:p>
            <a:pPr marL="0" indent="0">
              <a:buNone/>
            </a:pPr>
            <a:r>
              <a:rPr lang="en-US" sz="2000" b="1" dirty="0">
                <a:solidFill>
                  <a:srgbClr val="0B1E3F"/>
                </a:solidFill>
                <a:latin typeface="Cambria" panose="02040503050406030204" pitchFamily="34" charset="0"/>
                <a:ea typeface="Cambria" panose="02040503050406030204" pitchFamily="34" charset="-122"/>
                <a:cs typeface="Cambria" panose="02040503050406030204" pitchFamily="34" charset="-120"/>
              </a:rPr>
              <a:t>Wording can change confidence.</a:t>
            </a:r>
            <a:endParaRPr lang="en-US" sz="2000" dirty="0"/>
          </a:p>
        </p:txBody>
      </p:sp>
      <p:sp>
        <p:nvSpPr>
          <p:cNvPr id="25" name="Text 22"/>
          <p:cNvSpPr txBox="1"/>
          <p:nvPr/>
        </p:nvSpPr>
        <p:spPr>
          <a:xfrm>
            <a:off x="5760720" y="2788920"/>
            <a:ext cx="2743200" cy="146304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The same complaint received scores from 0.591 to 0.807. Interpret scores alongside explanations and human review. 61 of 77 unauthorized-transaction complaints were assigned to the catch-all category.</a:t>
            </a:r>
            <a:endParaRPr lang="en-US" sz="1200" dirty="0"/>
          </a:p>
        </p:txBody>
      </p:sp>
      <p:sp>
        <p:nvSpPr>
          <p:cNvPr id="26" name="Text 23"/>
          <p:cNvSpPr txBox="1"/>
          <p:nvPr/>
        </p:nvSpPr>
        <p:spPr>
          <a:xfrm>
            <a:off x="457200" y="4572000"/>
            <a:ext cx="4572000" cy="228600"/>
          </a:xfrm>
          <a:prstGeom prst="rect">
            <a:avLst/>
          </a:prstGeom>
          <a:noFill/>
        </p:spPr>
        <p:txBody>
          <a:bodyPr wrap="square" lIns="0" tIns="0" rIns="0" bIns="0" rtlCol="0" anchor="t"/>
          <a:lstStyle/>
          <a:p>
            <a:pPr marL="0" indent="0">
              <a:buNone/>
            </a:pPr>
            <a:r>
              <a:rPr lang="en-US" sz="1100" i="1" dirty="0">
                <a:solidFill>
                  <a:srgbClr val="5F6B7A"/>
                </a:solidFill>
                <a:latin typeface="Calibri" panose="020F0502020204030204" pitchFamily="34" charset="0"/>
                <a:ea typeface="Calibri" panose="020F0502020204030204" pitchFamily="34" charset="-122"/>
                <a:cs typeface="Calibri" panose="020F0502020204030204" pitchFamily="34" charset="-120"/>
              </a:rPr>
              <a:t>Small exploratory test; not a fairness study.</a:t>
            </a:r>
            <a:endParaRPr lang="en-US" sz="1100" dirty="0"/>
          </a:p>
        </p:txBody>
      </p:sp>
      <p:sp>
        <p:nvSpPr>
          <p:cNvPr id="27" name="Text 24"/>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28" name="Text 25"/>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 0"/>
          <p:cNvSpPr txBox="1"/>
          <p:nvPr/>
        </p:nvSpPr>
        <p:spPr>
          <a:xfrm>
            <a:off x="457200" y="365760"/>
            <a:ext cx="3657600" cy="274320"/>
          </a:xfrm>
          <a:prstGeom prst="rect">
            <a:avLst/>
          </a:prstGeom>
          <a:noFill/>
        </p:spPr>
        <p:txBody>
          <a:bodyPr wrap="square" lIns="0" tIns="0" rIns="0" bIns="0" rtlCol="0" anchor="t"/>
          <a:lstStyle/>
          <a:p>
            <a:pPr marL="0" indent="0">
              <a:buNone/>
            </a:pPr>
            <a:r>
              <a:rPr lang="en-US" sz="11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CONCLUSION</a:t>
            </a:r>
            <a:endParaRPr lang="en-US" sz="1100" dirty="0"/>
          </a:p>
        </p:txBody>
      </p:sp>
      <p:sp>
        <p:nvSpPr>
          <p:cNvPr id="4" name="Text 1"/>
          <p:cNvSpPr txBox="1"/>
          <p:nvPr/>
        </p:nvSpPr>
        <p:spPr>
          <a:xfrm>
            <a:off x="457200" y="685800"/>
            <a:ext cx="8229600" cy="1463040"/>
          </a:xfrm>
          <a:prstGeom prst="rect">
            <a:avLst/>
          </a:prstGeom>
          <a:noFill/>
        </p:spPr>
        <p:txBody>
          <a:bodyPr wrap="square" lIns="0" tIns="0" rIns="0" bIns="0" rtlCol="0" anchor="t"/>
          <a:lstStyle/>
          <a:p>
            <a:pPr marL="0" indent="0">
              <a:buNone/>
            </a:pPr>
            <a:r>
              <a:rPr lang="en-US" sz="3200" b="1" dirty="0">
                <a:solidFill>
                  <a:srgbClr val="0B1E3F"/>
                </a:solidFill>
                <a:latin typeface="Cambria" panose="02040503050406030204" pitchFamily="34" charset="0"/>
                <a:ea typeface="Cambria" panose="02040503050406030204" pitchFamily="34" charset="-122"/>
                <a:cs typeface="Cambria" panose="02040503050406030204" pitchFamily="34" charset="-120"/>
              </a:rPr>
              <a:t>Turning Financial Complaint Text into Explainable, Reviewable Decisions</a:t>
            </a:r>
            <a:endParaRPr lang="en-US" sz="3200" dirty="0"/>
          </a:p>
        </p:txBody>
      </p:sp>
      <p:sp>
        <p:nvSpPr>
          <p:cNvPr id="5" name="Shape 2"/>
          <p:cNvSpPr/>
          <p:nvPr/>
        </p:nvSpPr>
        <p:spPr>
          <a:xfrm>
            <a:off x="457200" y="2286000"/>
            <a:ext cx="1920240" cy="1554480"/>
          </a:xfrm>
          <a:prstGeom prst="rect">
            <a:avLst/>
          </a:prstGeom>
          <a:solidFill>
            <a:srgbClr val="FFFFFF"/>
          </a:solidFill>
          <a:ln w="12700">
            <a:solidFill>
              <a:srgbClr val="12A0B5"/>
            </a:solidFill>
            <a:prstDash val="solid"/>
          </a:ln>
        </p:spPr>
      </p:sp>
      <p:sp>
        <p:nvSpPr>
          <p:cNvPr id="6" name="Text 3"/>
          <p:cNvSpPr txBox="1"/>
          <p:nvPr/>
        </p:nvSpPr>
        <p:spPr>
          <a:xfrm>
            <a:off x="594360" y="2377440"/>
            <a:ext cx="164592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CLASSIFY</a:t>
            </a:r>
            <a:endParaRPr lang="en-US" sz="1000" dirty="0"/>
          </a:p>
        </p:txBody>
      </p:sp>
      <p:sp>
        <p:nvSpPr>
          <p:cNvPr id="7" name="Text 4"/>
          <p:cNvSpPr txBox="1"/>
          <p:nvPr/>
        </p:nvSpPr>
        <p:spPr>
          <a:xfrm>
            <a:off x="594360" y="2651760"/>
            <a:ext cx="1645920" cy="457200"/>
          </a:xfrm>
          <a:prstGeom prst="rect">
            <a:avLst/>
          </a:prstGeom>
          <a:noFill/>
        </p:spPr>
        <p:txBody>
          <a:bodyPr wrap="square" lIns="0" tIns="0" rIns="0" bIns="0" rtlCol="0" anchor="t"/>
          <a:lstStyle/>
          <a:p>
            <a:pPr marL="0" indent="0">
              <a:buNone/>
            </a:pPr>
            <a:r>
              <a:rPr lang="en-US" sz="2400" b="1" dirty="0">
                <a:solidFill>
                  <a:srgbClr val="0B1E3F"/>
                </a:solidFill>
                <a:latin typeface="Cambria" panose="02040503050406030204" pitchFamily="34" charset="0"/>
                <a:ea typeface="Cambria" panose="02040503050406030204" pitchFamily="34" charset="-122"/>
                <a:cs typeface="Cambria" panose="02040503050406030204" pitchFamily="34" charset="-120"/>
              </a:rPr>
              <a:t>0.70 | 0.69</a:t>
            </a:r>
            <a:endParaRPr lang="en-US" sz="2400" dirty="0"/>
          </a:p>
        </p:txBody>
      </p:sp>
      <p:sp>
        <p:nvSpPr>
          <p:cNvPr id="8" name="Text 5"/>
          <p:cNvSpPr txBox="1"/>
          <p:nvPr/>
        </p:nvSpPr>
        <p:spPr>
          <a:xfrm>
            <a:off x="594360" y="3154680"/>
            <a:ext cx="16459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accuracy, TF-IDF | MiniLM, vs 0.597 baseline</a:t>
            </a:r>
            <a:endParaRPr lang="en-US" sz="1200" dirty="0"/>
          </a:p>
        </p:txBody>
      </p:sp>
      <p:sp>
        <p:nvSpPr>
          <p:cNvPr id="9" name="Shape 6"/>
          <p:cNvSpPr/>
          <p:nvPr/>
        </p:nvSpPr>
        <p:spPr>
          <a:xfrm>
            <a:off x="2560320" y="2286000"/>
            <a:ext cx="1920240" cy="1554480"/>
          </a:xfrm>
          <a:prstGeom prst="rect">
            <a:avLst/>
          </a:prstGeom>
          <a:solidFill>
            <a:srgbClr val="FFFFFF"/>
          </a:solidFill>
          <a:ln w="12700">
            <a:solidFill>
              <a:srgbClr val="12A0B5"/>
            </a:solidFill>
            <a:prstDash val="solid"/>
          </a:ln>
        </p:spPr>
      </p:sp>
      <p:sp>
        <p:nvSpPr>
          <p:cNvPr id="10" name="Text 7"/>
          <p:cNvSpPr txBox="1"/>
          <p:nvPr/>
        </p:nvSpPr>
        <p:spPr>
          <a:xfrm>
            <a:off x="2697480" y="2377440"/>
            <a:ext cx="164592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EXPLAIN</a:t>
            </a:r>
            <a:endParaRPr lang="en-US" sz="1000" dirty="0"/>
          </a:p>
        </p:txBody>
      </p:sp>
      <p:sp>
        <p:nvSpPr>
          <p:cNvPr id="11" name="Text 8"/>
          <p:cNvSpPr txBox="1"/>
          <p:nvPr/>
        </p:nvSpPr>
        <p:spPr>
          <a:xfrm>
            <a:off x="2697480" y="2651760"/>
            <a:ext cx="1645920" cy="457200"/>
          </a:xfrm>
          <a:prstGeom prst="rect">
            <a:avLst/>
          </a:prstGeom>
          <a:noFill/>
        </p:spPr>
        <p:txBody>
          <a:bodyPr wrap="square" lIns="0" tIns="0" rIns="0" bIns="0" rtlCol="0" anchor="t"/>
          <a:lstStyle/>
          <a:p>
            <a:pPr marL="0" indent="0">
              <a:buNone/>
            </a:pPr>
            <a:r>
              <a:rPr lang="en-US" sz="2400" b="1" dirty="0">
                <a:solidFill>
                  <a:srgbClr val="0B1E3F"/>
                </a:solidFill>
                <a:latin typeface="Cambria" panose="02040503050406030204" pitchFamily="34" charset="0"/>
                <a:ea typeface="Cambria" panose="02040503050406030204" pitchFamily="34" charset="-122"/>
                <a:cs typeface="Cambria" panose="02040503050406030204" pitchFamily="34" charset="-120"/>
              </a:rPr>
              <a:t>LIME</a:t>
            </a:r>
            <a:endParaRPr lang="en-US" sz="2400" dirty="0"/>
          </a:p>
        </p:txBody>
      </p:sp>
      <p:sp>
        <p:nvSpPr>
          <p:cNvPr id="12" name="Text 9"/>
          <p:cNvSpPr txBox="1"/>
          <p:nvPr/>
        </p:nvSpPr>
        <p:spPr>
          <a:xfrm>
            <a:off x="2697480" y="3154680"/>
            <a:ext cx="16459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"deducted" carried −0.35 in our worked example</a:t>
            </a:r>
            <a:endParaRPr lang="en-US" sz="1200" dirty="0"/>
          </a:p>
        </p:txBody>
      </p:sp>
      <p:sp>
        <p:nvSpPr>
          <p:cNvPr id="13" name="Shape 10"/>
          <p:cNvSpPr/>
          <p:nvPr/>
        </p:nvSpPr>
        <p:spPr>
          <a:xfrm>
            <a:off x="4663440" y="2286000"/>
            <a:ext cx="1920240" cy="1554480"/>
          </a:xfrm>
          <a:prstGeom prst="rect">
            <a:avLst/>
          </a:prstGeom>
          <a:solidFill>
            <a:srgbClr val="FFFFFF"/>
          </a:solidFill>
          <a:ln w="12700">
            <a:solidFill>
              <a:srgbClr val="12A0B5"/>
            </a:solidFill>
            <a:prstDash val="solid"/>
          </a:ln>
        </p:spPr>
      </p:sp>
      <p:sp>
        <p:nvSpPr>
          <p:cNvPr id="14" name="Text 11"/>
          <p:cNvSpPr txBox="1"/>
          <p:nvPr/>
        </p:nvSpPr>
        <p:spPr>
          <a:xfrm>
            <a:off x="4800600" y="2377440"/>
            <a:ext cx="1645920" cy="274320"/>
          </a:xfrm>
          <a:prstGeom prst="rect">
            <a:avLst/>
          </a:prstGeom>
          <a:noFill/>
        </p:spPr>
        <p:txBody>
          <a:bodyPr wrap="square" lIns="0" tIns="0" rIns="0" bIns="0" rtlCol="0" anchor="t"/>
          <a:lstStyle/>
          <a:p>
            <a:pPr marL="0" indent="0">
              <a:buNone/>
            </a:pPr>
            <a:r>
              <a:rPr lang="en-US" sz="1000" b="1" dirty="0">
                <a:solidFill>
                  <a:srgbClr val="12A0B5"/>
                </a:solidFill>
                <a:latin typeface="Courier New" panose="02070309020205020404" pitchFamily="34" charset="0"/>
                <a:ea typeface="Courier New" panose="02070309020205020404" pitchFamily="34" charset="-122"/>
                <a:cs typeface="Courier New" panose="02070309020205020404" pitchFamily="34" charset="-120"/>
              </a:rPr>
              <a:t>HUMAN REVIEW</a:t>
            </a:r>
            <a:endParaRPr lang="en-US" sz="1000" dirty="0"/>
          </a:p>
        </p:txBody>
      </p:sp>
      <p:sp>
        <p:nvSpPr>
          <p:cNvPr id="15" name="Text 12"/>
          <p:cNvSpPr txBox="1"/>
          <p:nvPr/>
        </p:nvSpPr>
        <p:spPr>
          <a:xfrm>
            <a:off x="4800600" y="2651760"/>
            <a:ext cx="1645920" cy="457200"/>
          </a:xfrm>
          <a:prstGeom prst="rect">
            <a:avLst/>
          </a:prstGeom>
          <a:noFill/>
        </p:spPr>
        <p:txBody>
          <a:bodyPr wrap="square" lIns="0" tIns="0" rIns="0" bIns="0" rtlCol="0" anchor="t"/>
          <a:lstStyle/>
          <a:p>
            <a:pPr marL="0" indent="0">
              <a:buNone/>
            </a:pPr>
            <a:r>
              <a:rPr lang="en-US" sz="2400" b="1" dirty="0">
                <a:solidFill>
                  <a:srgbClr val="0B1E3F"/>
                </a:solidFill>
                <a:latin typeface="Cambria" panose="02040503050406030204" pitchFamily="34" charset="0"/>
                <a:ea typeface="Cambria" panose="02040503050406030204" pitchFamily="34" charset="-122"/>
                <a:cs typeface="Cambria" panose="02040503050406030204" pitchFamily="34" charset="-120"/>
              </a:rPr>
              <a:t>&lt; 0.60</a:t>
            </a:r>
            <a:endParaRPr lang="en-US" sz="2400" dirty="0"/>
          </a:p>
        </p:txBody>
      </p:sp>
      <p:sp>
        <p:nvSpPr>
          <p:cNvPr id="16" name="Text 13"/>
          <p:cNvSpPr txBox="1"/>
          <p:nvPr/>
        </p:nvSpPr>
        <p:spPr>
          <a:xfrm>
            <a:off x="4800600" y="3154680"/>
            <a:ext cx="16459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confidence gate returns "Human review required"</a:t>
            </a:r>
            <a:endParaRPr lang="en-US" sz="1200" dirty="0"/>
          </a:p>
        </p:txBody>
      </p:sp>
      <p:sp>
        <p:nvSpPr>
          <p:cNvPr id="17" name="Shape 14"/>
          <p:cNvSpPr/>
          <p:nvPr/>
        </p:nvSpPr>
        <p:spPr>
          <a:xfrm>
            <a:off x="6766560" y="2286000"/>
            <a:ext cx="1920240" cy="1554480"/>
          </a:xfrm>
          <a:prstGeom prst="rect">
            <a:avLst/>
          </a:prstGeom>
          <a:solidFill>
            <a:srgbClr val="FBEBD9"/>
          </a:solidFill>
          <a:ln w="12700">
            <a:solidFill>
              <a:srgbClr val="D9822B"/>
            </a:solidFill>
            <a:prstDash val="solid"/>
          </a:ln>
        </p:spPr>
      </p:sp>
      <p:sp>
        <p:nvSpPr>
          <p:cNvPr id="18" name="Text 15"/>
          <p:cNvSpPr txBox="1"/>
          <p:nvPr/>
        </p:nvSpPr>
        <p:spPr>
          <a:xfrm>
            <a:off x="6903720" y="2377440"/>
            <a:ext cx="1645920" cy="274320"/>
          </a:xfrm>
          <a:prstGeom prst="rect">
            <a:avLst/>
          </a:prstGeom>
          <a:noFill/>
        </p:spPr>
        <p:txBody>
          <a:bodyPr wrap="square" lIns="0" tIns="0" rIns="0" bIns="0" rtlCol="0" anchor="t"/>
          <a:lstStyle/>
          <a:p>
            <a:pPr marL="0" indent="0">
              <a:buNone/>
            </a:pPr>
            <a:r>
              <a:rPr lang="en-US" sz="1000" b="1" dirty="0">
                <a:solidFill>
                  <a:srgbClr val="D9822B"/>
                </a:solidFill>
                <a:latin typeface="Courier New" panose="02070309020205020404" pitchFamily="34" charset="0"/>
                <a:ea typeface="Courier New" panose="02070309020205020404" pitchFamily="34" charset="-122"/>
                <a:cs typeface="Courier New" panose="02070309020205020404" pitchFamily="34" charset="-120"/>
              </a:rPr>
              <a:t>KEY INSIGHT</a:t>
            </a:r>
            <a:endParaRPr lang="en-US" sz="1000" dirty="0"/>
          </a:p>
        </p:txBody>
      </p:sp>
      <p:sp>
        <p:nvSpPr>
          <p:cNvPr id="19" name="Text 16"/>
          <p:cNvSpPr txBox="1"/>
          <p:nvPr/>
        </p:nvSpPr>
        <p:spPr>
          <a:xfrm>
            <a:off x="6903720" y="2651760"/>
            <a:ext cx="1645920" cy="457200"/>
          </a:xfrm>
          <a:prstGeom prst="rect">
            <a:avLst/>
          </a:prstGeom>
          <a:noFill/>
        </p:spPr>
        <p:txBody>
          <a:bodyPr wrap="square" lIns="0" tIns="0" rIns="0" bIns="0" rtlCol="0" anchor="t"/>
          <a:lstStyle/>
          <a:p>
            <a:pPr marL="0" indent="0">
              <a:buNone/>
            </a:pPr>
            <a:r>
              <a:rPr lang="en-US" sz="2400" b="1" dirty="0">
                <a:solidFill>
                  <a:srgbClr val="D9822B"/>
                </a:solidFill>
                <a:latin typeface="Cambria" panose="02040503050406030204" pitchFamily="34" charset="0"/>
                <a:ea typeface="Cambria" panose="02040503050406030204" pitchFamily="34" charset="-122"/>
                <a:cs typeface="Cambria" panose="02040503050406030204" pitchFamily="34" charset="-120"/>
              </a:rPr>
              <a:t>0.591–0.80</a:t>
            </a:r>
            <a:endParaRPr lang="en-US" sz="2400" dirty="0"/>
          </a:p>
        </p:txBody>
      </p:sp>
      <p:sp>
        <p:nvSpPr>
          <p:cNvPr id="20" name="Text 17"/>
          <p:cNvSpPr txBox="1"/>
          <p:nvPr/>
        </p:nvSpPr>
        <p:spPr>
          <a:xfrm>
            <a:off x="6903720" y="3154680"/>
            <a:ext cx="1645920" cy="640080"/>
          </a:xfrm>
          <a:prstGeom prst="rect">
            <a:avLst/>
          </a:prstGeom>
          <a:noFill/>
        </p:spPr>
        <p:txBody>
          <a:bodyPr wrap="square" lIns="0" tIns="0" rIns="0" bIns="0" rtlCol="0" anchor="t"/>
          <a:lstStyle/>
          <a:p>
            <a:pPr marL="0" indent="0">
              <a:buNone/>
            </a:pPr>
            <a:r>
              <a:rPr lang="en-US" sz="1200" dirty="0">
                <a:solidFill>
                  <a:srgbClr val="0B1E3F"/>
                </a:solidFill>
                <a:latin typeface="Calibri" panose="020F0502020204030204" pitchFamily="34" charset="0"/>
                <a:ea typeface="Calibri" panose="020F0502020204030204" pitchFamily="34" charset="-122"/>
                <a:cs typeface="Calibri" panose="020F0502020204030204" pitchFamily="34" charset="-120"/>
              </a:rPr>
              <a:t>Confidence varied across four writing styles of the same complaint.</a:t>
            </a:r>
            <a:endParaRPr lang="en-US" sz="1200" dirty="0"/>
          </a:p>
        </p:txBody>
      </p:sp>
      <p:sp>
        <p:nvSpPr>
          <p:cNvPr id="21" name="Shape 18"/>
          <p:cNvSpPr/>
          <p:nvPr/>
        </p:nvSpPr>
        <p:spPr>
          <a:xfrm>
            <a:off x="457200" y="3977640"/>
            <a:ext cx="8229600" cy="457200"/>
          </a:xfrm>
          <a:prstGeom prst="rect">
            <a:avLst/>
          </a:prstGeom>
          <a:solidFill>
            <a:srgbClr val="DDF1F4"/>
          </a:solidFill>
          <a:ln w="12700">
            <a:solidFill>
              <a:srgbClr val="12A0B5"/>
            </a:solidFill>
            <a:prstDash val="solid"/>
          </a:ln>
        </p:spPr>
      </p:sp>
      <p:sp>
        <p:nvSpPr>
          <p:cNvPr id="22" name="Text 19"/>
          <p:cNvSpPr txBox="1"/>
          <p:nvPr/>
        </p:nvSpPr>
        <p:spPr>
          <a:xfrm>
            <a:off x="640080" y="3977640"/>
            <a:ext cx="7863840" cy="457200"/>
          </a:xfrm>
          <a:prstGeom prst="rect">
            <a:avLst/>
          </a:prstGeom>
          <a:noFill/>
        </p:spPr>
        <p:txBody>
          <a:bodyPr wrap="square" lIns="0" tIns="0" rIns="0" bIns="0" rtlCol="0" anchor="ctr"/>
          <a:lstStyle/>
          <a:p>
            <a:pPr marL="0" indent="0">
              <a:buNone/>
            </a:pPr>
            <a:r>
              <a:rPr lang="en-US" sz="1300" b="1" dirty="0">
                <a:solidFill>
                  <a:srgbClr val="D9822B"/>
                </a:solidFill>
                <a:latin typeface="Courier New" panose="02070309020205020404" pitchFamily="34" charset="0"/>
                <a:ea typeface="Courier New" panose="02070309020205020404" pitchFamily="34" charset="-122"/>
                <a:cs typeface="Courier New" panose="02070309020205020404" pitchFamily="34" charset="-120"/>
              </a:rPr>
              <a:t>NEXT RESEARCH  label validation · class balance · calibration · broader language data</a:t>
            </a:r>
            <a:endParaRPr lang="en-US" sz="1300" dirty="0"/>
          </a:p>
        </p:txBody>
      </p:sp>
      <p:sp>
        <p:nvSpPr>
          <p:cNvPr id="23" name="Text 20"/>
          <p:cNvSpPr txBox="1"/>
          <p:nvPr/>
        </p:nvSpPr>
        <p:spPr>
          <a:xfrm>
            <a:off x="457200" y="4498848"/>
            <a:ext cx="8229600" cy="274320"/>
          </a:xfrm>
          <a:prstGeom prst="rect">
            <a:avLst/>
          </a:prstGeom>
          <a:noFill/>
        </p:spPr>
        <p:txBody>
          <a:bodyPr wrap="square" lIns="0" tIns="0" rIns="0" bIns="0" rtlCol="0" anchor="t"/>
          <a:lstStyle/>
          <a:p>
            <a:pPr marL="0" indent="0">
              <a:buNone/>
            </a:pPr>
            <a:r>
              <a:rPr lang="en-US" sz="1400" i="1" dirty="0">
                <a:solidFill>
                  <a:srgbClr val="5F6B7A"/>
                </a:solidFill>
                <a:latin typeface="Cambria" panose="02040503050406030204" pitchFamily="34" charset="0"/>
                <a:ea typeface="Cambria" panose="02040503050406030204" pitchFamily="34" charset="-122"/>
                <a:cs typeface="Cambria" panose="02040503050406030204" pitchFamily="34" charset="-120"/>
              </a:rPr>
              <a:t>Thank you — Questions?</a:t>
            </a:r>
            <a:endParaRPr lang="en-US" sz="1400" dirty="0"/>
          </a:p>
        </p:txBody>
      </p:sp>
      <p:sp>
        <p:nvSpPr>
          <p:cNvPr id="24" name="Text 21"/>
          <p:cNvSpPr txBox="1"/>
          <p:nvPr/>
        </p:nvSpPr>
        <p:spPr>
          <a:xfrm>
            <a:off x="457200" y="4800600"/>
            <a:ext cx="2743200" cy="228600"/>
          </a:xfrm>
          <a:prstGeom prst="rect">
            <a:avLst/>
          </a:prstGeom>
          <a:noFill/>
        </p:spPr>
        <p:txBody>
          <a:bodyPr wrap="square" lIns="0" tIns="0" rIns="0" bIns="0" rtlCol="0" anchor="t"/>
          <a:lstStyle/>
          <a:p>
            <a:pPr marL="0" indent="0">
              <a:buNone/>
            </a:pPr>
            <a:r>
              <a:rPr lang="en-US" sz="1000" dirty="0">
                <a:solidFill>
                  <a:srgbClr val="5F6B7A"/>
                </a:solidFill>
                <a:latin typeface="Courier New" panose="02070309020205020404" pitchFamily="34" charset="0"/>
                <a:ea typeface="Courier New" panose="02070309020205020404" pitchFamily="34" charset="-122"/>
                <a:cs typeface="Courier New" panose="02070309020205020404" pitchFamily="34" charset="-120"/>
              </a:rPr>
              <a:t>FINROOT</a:t>
            </a:r>
            <a:endParaRPr lang="en-US" sz="1000" dirty="0"/>
          </a:p>
        </p:txBody>
      </p:sp>
      <p:sp>
        <p:nvSpPr>
          <p:cNvPr id="25" name="Text 22"/>
          <p:cNvSpPr txBox="1"/>
          <p:nvPr/>
        </p:nvSpPr>
        <p:spPr>
          <a:xfrm>
            <a:off x="8229600" y="4800600"/>
            <a:ext cx="457200" cy="228600"/>
          </a:xfrm>
          <a:prstGeom prst="rect">
            <a:avLst/>
          </a:prstGeom>
          <a:noFill/>
        </p:spPr>
        <p:txBody>
          <a:bodyPr wrap="square" lIns="0" tIns="0" rIns="0" bIns="0" rtlCol="0" anchor="t"/>
          <a:lstStyle/>
          <a:p>
            <a:pPr marL="0" indent="0" algn="r">
              <a:buNone/>
            </a:pPr>
            <a:r>
              <a:rPr lang="en-US" sz="1000" dirty="0">
                <a:solidFill>
                  <a:srgbClr val="5F6B7A"/>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3886</Words>
  <Application>WPS Presentation</Application>
  <PresentationFormat>On-screen Show (16:9)</PresentationFormat>
  <Paragraphs>312</Paragraphs>
  <Slides>10</Slides>
  <Notes>10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Courier New</vt:lpstr>
      <vt:lpstr>Courier New</vt:lpstr>
      <vt:lpstr>Courier New</vt:lpstr>
      <vt:lpstr>Cambria</vt:lpstr>
      <vt:lpstr>Cambria</vt:lpstr>
      <vt:lpstr>Cambria</vt:lpstr>
      <vt:lpstr>Calibri</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FINROOT</dc:title>
  <dc:creator>PptxGenJS</dc:creator>
  <dc:subject>PptxGenJS Presentation</dc:subject>
  <cp:lastModifiedBy>Manbhavna</cp:lastModifiedBy>
  <cp:revision>2</cp:revision>
  <dcterms:created xsi:type="dcterms:W3CDTF">2026-10-11T17:47:00Z</dcterms:created>
  <dcterms:modified xsi:type="dcterms:W3CDTF">2026-10-11T18:18:00Z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1C19DA1477CE47CB9723B00FA3C3357F_12</vt:lpwstr>
  </property>
  <property fmtid="{D5CDD505-2E9C-101B-9397-08002B2CF9AE}" pid="3" name="KSOProductBuildVer">
    <vt:lpwstr>1033-12.1.0.29162</vt:lpwstr>
  </property>
</Properties>
</file>